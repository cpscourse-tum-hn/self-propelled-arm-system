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2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media/image1.wmf" ContentType="image/x-wmf"/>
  <Override PartName="/ppt/media/image3.wmf" ContentType="image/x-wmf"/>
  <Override PartName="/ppt/media/media27.mp4" ContentType="video/mp4"/>
  <Override PartName="/ppt/slideMasters/slideMaster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61" r:id="rId5"/>
    <p:sldMasterId id="2147483670" r:id="rId6"/>
    <p:sldMasterId id="214748367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x="9144000" cy="6858000"/>
  <p:notesSz cx="9925050" cy="66659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11.xml"/><Relationship Id="rId6" Type="http://schemas.openxmlformats.org/officeDocument/2006/relationships/slideMaster" Target="slideMasters/slideMaster19.xml"/><Relationship Id="rId7" Type="http://schemas.openxmlformats.org/officeDocument/2006/relationships/slideMaster" Target="slideMasters/slideMaster20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Selected detector</c:v>
                </c:pt>
              </c:strCache>
            </c:strRef>
          </c:tx>
          <c:spPr>
            <a:solidFill>
              <a:srgbClr val="0065bd"/>
            </a:solidFill>
            <a:ln w="0">
              <a:solidFill>
                <a:srgbClr val="0065bd"/>
              </a:solidFill>
            </a:ln>
          </c:spPr>
          <c:invertIfNegative val="0"/>
          <c:dLbls>
            <c:numFmt formatCode="0.000" sourceLinked="0"/>
            <c:txPr>
              <a:bodyPr wrap="square"/>
              <a:lstStyle/>
              <a:p>
                <a:pPr>
                  <a:defRPr sz="750" b="1" u="none" strike="noStrike">
                    <a:solidFill>
                      <a:srgbClr val="1a1a1a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Shared validation</c:v>
                </c:pt>
                <c:pt idx="1">
                  <c:v>Robot photos</c:v>
                </c:pt>
                <c:pt idx="2">
                  <c:v>Robot video</c:v>
                </c:pt>
              </c:strCache>
            </c:strRef>
          </c:cat>
          <c:val>
            <c:numRef>
              <c:f>0</c:f>
              <c:numCache>
                <c:formatCode>0.000</c:formatCode>
                <c:ptCount val="3"/>
                <c:pt idx="0">
                  <c:v>0.656</c:v>
                </c:pt>
                <c:pt idx="1">
                  <c:v>0.839</c:v>
                </c:pt>
                <c:pt idx="2">
                  <c:v>0.924</c:v>
                </c:pt>
              </c:numCache>
            </c:numRef>
          </c:val>
        </c:ser>
        <c:gapWidth val="75"/>
        <c:overlap val="0"/>
        <c:axId val="33436696"/>
        <c:axId val="72472783"/>
      </c:barChart>
      <c:catAx>
        <c:axId val="334366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8d8d8"/>
            </a:solidFill>
            <a:round/>
          </a:ln>
        </c:spPr>
        <c:txPr>
          <a:bodyPr/>
          <a:lstStyle/>
          <a:p>
            <a:pPr>
              <a:defRPr sz="713" b="0" u="none" strike="noStrike">
                <a:solidFill>
                  <a:srgbClr val="5a5a5a"/>
                </a:solidFill>
                <a:uFillTx/>
                <a:latin typeface="Arial"/>
                <a:ea typeface="Arial"/>
              </a:defRPr>
            </a:pPr>
          </a:p>
        </c:txPr>
        <c:crossAx val="72472783"/>
        <c:crosses val="autoZero"/>
        <c:auto val="1"/>
        <c:lblAlgn val="ctr"/>
        <c:lblOffset val="100"/>
        <c:noMultiLvlLbl val="0"/>
      </c:catAx>
      <c:valAx>
        <c:axId val="72472783"/>
        <c:scaling>
          <c:orientation val="minMax"/>
          <c:max val="1"/>
          <c:min val="0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666666"/>
                </a:solidFill>
                <a:uFillTx/>
                <a:latin typeface="Arial"/>
              </a:defRPr>
            </a:pPr>
          </a:p>
        </c:txPr>
        <c:crossAx val="33436696"/>
        <c:crosses val="autoZero"/>
        <c:crossBetween val="between"/>
        <c:majorUnit val="0.2"/>
      </c:valAx>
      <c:spPr>
        <a:solidFill>
          <a:srgbClr val="ffffff"/>
        </a:solidFill>
        <a:ln w="0">
          <a:noFill/>
        </a:ln>
      </c:spPr>
    </c:plotArea>
    <c:plotVisOnly val="1"/>
    <c:dispBlanksAs val="zero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dt" idx="4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ftr" idx="4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sldNum" idx="4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A2B3E8D-4D66-4D51-961E-5BB95C4F7A5F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2160" cy="249876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720" cy="2998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0:40]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Good morning, and thank you for coming. We are the S.P.A.S. team, and our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is the Self-Propelled Arm System.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a small tracked robot with a robotic arm on top. Its job is to find drink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cans on the floor of an indoor room, pick them up, and drop them into 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collection bin.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interesting part of the project is the constraint we worked under. The robot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has one camera and no other sensor. Everything you will see today is decided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that single image.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will start with a short overview, and then my colleagues will take you through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system and the results.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44"/>
          </p:nvPr>
        </p:nvSpPr>
        <p:spPr>
          <a:xfrm>
            <a:off x="5621760" y="6331320"/>
            <a:ext cx="4299480" cy="33192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1ECAC7-635C-4E22-B504-03A0B1E8374B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21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2160" cy="249876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720" cy="2998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1:10]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Here is the system in three lines.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First, it is an autonomous can collection robot: a tracked indoor platform with 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 link arm and a parallel gripper.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Second, and this is the important one, a single RGB camera is the only sensor.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 is no depth sensor, no range finder, no wheel encoders, and no force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sensing in the gripper.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Third, because of that, vision is in the loop at every stage. Search, approach,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grasp and delivery are all decided from the image.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photograph on the left shows the environment we work in: drink cans standing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floor, and a bin marked with an AprilTag.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outline on the right is how we will proceed. We start with the problem 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platform, then the architecture and the control logic, then perception and 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complete run on hardware, then the measured results, and we close with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limitations and the conclusion.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45"/>
          </p:nvPr>
        </p:nvSpPr>
        <p:spPr>
          <a:xfrm>
            <a:off x="5621760" y="6331320"/>
            <a:ext cx="4299480" cy="33192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3558E1-06A9-42C0-9D1C-70C895E621CB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21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2160" cy="249876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720" cy="2998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1:20]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First, why this task.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Drink cans accumulate in indoor public spaces, and collecting them is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repetitive, low risk manual work. For us it was a good project task because it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combines everything at once: perception, navigation, decision making 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manipulation.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mission breaks into four stages, shown on the left.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detection, the robot rotates in place until the detector accepts a target.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approach, it steers on the image error and stops when the target looks large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enough. In grasp, it lowers the arm, pushes, closes and lifts. In delivery, it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docks on the AprilTag and releases the can above the bin.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right is the hardware we had to do this with. One RGB camera, 320 by 240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pixels, with a 60 degree field of view. No depth sensing, no stereo pair, no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range finder. No wheel encoders, so the base returns no motion feedback at all.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no force sensing, so the gripper cannot detect contact.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consequence is at the bottom right, and it is the sentence that shapes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system: the base is an open loop actuator. We command it to move, and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way to confirm that it moved is to look at the next camera image.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46"/>
          </p:nvPr>
        </p:nvSpPr>
        <p:spPr>
          <a:xfrm>
            <a:off x="5621760" y="6331320"/>
            <a:ext cx="4299480" cy="33192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7EF78F-412F-4704-B04A-CA574CDDA9A1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2160" cy="249876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720" cy="2998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1:15]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hardware architecture.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the middle is the Jetson Nano with four gigabytes of shared memory. It runs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everything on board. There is no external computer and no remote control.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Three subsystems are connected to it. On the left, the CSI camera delivers 320 by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240 frames over CSI-2. On the right, two track motors are driven with PWM through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motor driver, and they report nothing back. Below them, five bus servos are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connected in one TTL serial chain, and these are the only devices in the system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whose position we can read. Servo four closes the gripper.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dashed lines are the power rail, from the battery to the drive and to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computer.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 the bottom is the software stack, in four layers. The mission layer is our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demo_core state machine with sixteen states. The perception layer uses detectNet,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pupil_apriltags library and OpenCV. The hardware layer wraps the jetbot Robot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Camera classes and the TTLServo driver. And all tuning constants live in two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JSON configuration files, so no threshold is hard coded in the logic.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47"/>
          </p:nvPr>
        </p:nvSpPr>
        <p:spPr>
          <a:xfrm>
            <a:off x="5621760" y="6331320"/>
            <a:ext cx="4299480" cy="33192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ACA866-9A44-4912-91E0-71E6E968C90C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2160" cy="249876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720" cy="2998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1:45]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mission logic is an explicit finite state machine, sixteen states in total.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graph on the left is the design level view. The guards on the transitions are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fields of a single shared context object, so every state reads the same picture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the world.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right are the four states that are driven by vision.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searching, the robot rotates until a target is accepted or the timeout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expires. In aligning, it turns until the target is within tolerance, and it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aborts if the target is lost. In approaching, it steers or drives forward 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stops on apparent size. Final verification repeats the check with a tighter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tolerance over several consecutive frames, so a single lucky frame cannot trigger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grasp.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formula below is the whole control input. e_x is the horizontal position of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target centre, minus half the image width, divided by the image width. It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ranges from minus zero point five to plus zero point five, negative to the left of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centre. We steer to drive that error to zero.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 is handled the same way. We do not estimate range. We stop when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detection box reaches 0.36 of the image height for a can, or 0.15 for the tag.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Apparent size replaces a distance measurement.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design decisions at the bottom. Transitions are held in an explicit table, so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undeclared state and event pair raises an error instead of failing silently.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finalising requires a stable target, which map based navigation never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provides, so dead reckoning alone can never trigger a grasp.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48"/>
          </p:nvPr>
        </p:nvSpPr>
        <p:spPr>
          <a:xfrm>
            <a:off x="5621760" y="6331320"/>
            <a:ext cx="4299480" cy="33192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2A0C3E-D08D-4ECE-A857-55CF7CFC14E2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2160" cy="249876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720" cy="2998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1:35]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the grasp itself.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 is no inverse kinematics here. The arm moves between fixed, pre-defined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poses, and the base drives the can into the open gripper.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sequence at the top has six steps. Two seconds of settling. Lower the arm to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down pose, polling the servos. Push forward slowly, which is the step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highlighted in blue. Hold the arm locked for five seconds. Close to the grab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pose. Lift to the carry pose.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four frames below are recorded on board during a real pickup: verification,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push, closing, and carry.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push instead of simply closing the gripper on the can? The arm is short 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gripper closes imprecisely, but the base moves reliably over short distances.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we lower the open gripper to the floor and drive the can into it. We trade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fine manipulation, which our hardware is bad at, for coarse base motion, which it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well.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block below is the one place in the whole system with real feedback. Servo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positions are polled until the readings stop changing, instead of waiting a fixed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delay. If the arm has not settled, the push is blocked outright. In the archived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 this took 4.94 seconds of settling, 7 seconds of pushing and 5 seconds of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holding.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limitation is honest and it is on the slide: this only works for light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objects on a low friction floor.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49"/>
          </p:nvPr>
        </p:nvSpPr>
        <p:spPr>
          <a:xfrm>
            <a:off x="5621760" y="6331320"/>
            <a:ext cx="4299480" cy="33192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26EF79-6037-488E-B4C0-F8A1EDC9DEE9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2160" cy="249876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720" cy="2998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1:05]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experimental setup and one complete reference run.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left, the platform holding a grasped can. In the middle, the arena: a 250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millilitre can and the bin with the AprilTag. On the right, the end of the run,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 the can held above the bin.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numbers below describe that run. It took 73.8 seconds from the start of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search to the release over the bin. One camera, with no depth sensor, no range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finder and no encoders. 98 can detections during the run, and 41 successful tag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reads out of 59 attempts.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search, grasp, transport and release were all completed on real hardware using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camera alone. And this is not an assumption on our side: the on-board overlay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records DEPTH equals NO on every single frame of that run.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50"/>
          </p:nvPr>
        </p:nvSpPr>
        <p:spPr>
          <a:xfrm>
            <a:off x="5621760" y="6331320"/>
            <a:ext cx="4299480" cy="33192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3BB989-3099-419E-934A-99E9D7AC02FC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2160" cy="249876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720" cy="2998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1:20]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Perception is two detectors, and between them they produce every measurement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controller uses.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left is the object detector, SSD-MobileNet-V1 at 300 by 300 input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resolution, with the confidence score.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the middle is the same detector running inside the mission, with our overlay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top. You can read the two values the controller actually consumes: 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horizontal error of minus 0.119, so the can is slightly left of centre, and a box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height of 0.255, which is still below the 0.36 stopping threshold. So at this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moment the robot keeps approaching.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right is the AprilTag detector during docking at the bin. Family tag36h11,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identifier zero. The tag height is 0.186 against a threshold of 0.15, and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error is minus 0.055.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point worth making explicitly: we never calibrated the camera, and we do not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need to. Tag height, edge ratio and corner angle are all ratios measured in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image, so the focal length cancels out. The AprilTag library can also give 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metric pose through perspective-n-point, but we deliberately do not use it.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51"/>
          </p:nvPr>
        </p:nvSpPr>
        <p:spPr>
          <a:xfrm>
            <a:off x="5621760" y="6331320"/>
            <a:ext cx="4299480" cy="33192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ACD1D5-C510-44C1-915D-37DD369639A6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2160" cy="249876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720" cy="2998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1:35]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the measurements.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left chart is detector accuracy as F1 score. The two bars per group compare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model we deployed against the stronger custom model. On photographs we lose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about six F1 points, and on video about two.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accepted that, and the reason is below the chart. The deployed model removes 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 post-processing layer and a custom inference backend, and it uses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inference path that NVIDIA supports natively on the Nano. We traded a small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amount of accuracy for a deployment that works reliably on the device we have.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conversion itself is lossless in practice: the difference between the PyTorch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and the exported ONNX model is 4.4 times ten to the minus seven.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right chart is where the time goes in the 73.8 second run. Only 31.2 seconds,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about 42 percent, is commanded base motion. Another 11.9 seconds are deliberate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holds, the settling and locking we saw in the grasp sequence. The rest is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perception and decision time.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caveat, and we state it on the slide rather than hiding it. That run was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recorded by the earlier prototype, with the legacy parameter set and the custom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TensorRT detector. Its stop thresholds were 0.400 and 0.500, not the 0.36 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0.15 we use today. The counts and the timings are exact, but the thresholds do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match the current configuration.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52"/>
          </p:nvPr>
        </p:nvSpPr>
        <p:spPr>
          <a:xfrm>
            <a:off x="5621760" y="6331320"/>
            <a:ext cx="4299480" cy="33192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EAAA75-28D7-434F-84C3-1B89289898E0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2160" cy="249876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720" cy="2998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1:35]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want to be clear about what does not work.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First, depth estimation. We tested a depth network, and it was reliable to about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0.3 metres in a general scene, and to about one metre only on clean white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surfaces. Our can detector already works out to three metres, so the depth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estimate was worse than the detector it was supposed to help. We removed it from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control path completely.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Second, the pose estimate drifts. The two tracks turn at different rates,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somewhere between one and three radians per second, while our model assumes fixed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values of 0.471 and 0.942. The error is larger than the quantity we are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modelling, so dead reckoning is not trustworthy. The AprilTag on the bin is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absolute anchor the robot has.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Third, and this is the failure that worries us most, one failure mode is silent.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Grasp verification is currently disabled, so a pickup is recorded whether or not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can is actually in the gripper. The robot can report success with an empty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gripper. Enabling that verification flag is the first fix on our list.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Taken together, the missing capability is relocalisation. The map can direct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robot's attention, but it can never trigger an action on its own.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challenges at the bottom are the practical ones. Open loop turning was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unreliable, so we replaced it with short pulses and visual correction.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gripper gives no feedback, so full and empty look identical. We only get 10 to 15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frames per second, so motion is pulsed and speeds are kept low. Deployment cost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 accuracy but bought reliability. Depth underperformed. And timing the grasp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needed real feedback, because a fixed delay simply did not work.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53"/>
          </p:nvPr>
        </p:nvSpPr>
        <p:spPr>
          <a:xfrm>
            <a:off x="5621760" y="6331320"/>
            <a:ext cx="4299480" cy="33192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C8FF4C-8683-40E6-AC2C-CA5E517AF6A9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2160" cy="249876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720" cy="2998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1:10]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summarise.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built an indoor mobile manipulator that operates on a single camera. Its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control loops are closed on how the target appears in the image, rather than on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estimated geometry. The practical effect is that errors degrade performance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instead of causing failure: when the map drifts, the robot searches longer, 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turning is asymmetric, it makes a few more corrections, but it still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completes the mission.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one exception is the undetected empty gripper, and we have said why. In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general, on hardware without proprioception, we would rather be conservative 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slow than confidently wrong.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Our immediate next steps are small. Enable grasp verification, which costs one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additional observation per pickup. And calibrate the two turn constants, because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per direction scale factors already exist in the configuration and are simply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 to one.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we had a budget for sensors, the order would be: a forward distance sensor,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would be the first true metric measurement in the system; force or current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sensing in the gripper, which addresses the empty gripper failure directly; track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odometry, which would turn the map from a hint into a measurement; and more tags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the room as cheap relocalisation anchors.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 for your attention. We are happy to take your questions.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54"/>
          </p:nvPr>
        </p:nvSpPr>
        <p:spPr>
          <a:xfrm>
            <a:off x="5621760" y="6331320"/>
            <a:ext cx="4299480" cy="33192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20ACCC-1075-4D03-9CEF-86B660C71DCA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E5C72A-6B9B-4093-9669-E46CD5ACED74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156966C-0DED-40DF-BAB1-341AC356B2A2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feld 10"/>
          <p:cNvSpPr/>
          <p:nvPr/>
        </p:nvSpPr>
        <p:spPr>
          <a:xfrm>
            <a:off x="320400" y="314280"/>
            <a:ext cx="7698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body"/>
          </p:nvPr>
        </p:nvSpPr>
        <p:spPr>
          <a:xfrm>
            <a:off x="318960" y="1978560"/>
            <a:ext cx="8507520" cy="1272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Referent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Ort, Datum (Schreibweise: 00. Januar 2015)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8347680" y="6408360"/>
            <a:ext cx="573840" cy="35712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5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7F4BEF-D17D-47A7-B14E-FCCD6FD57892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6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extfeld 10"/>
          <p:cNvSpPr/>
          <p:nvPr/>
        </p:nvSpPr>
        <p:spPr>
          <a:xfrm>
            <a:off x="320400" y="314280"/>
            <a:ext cx="7698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520" cy="4698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7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0F9EB2-FC43-4A77-B144-29807301D869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8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feld 10"/>
          <p:cNvSpPr/>
          <p:nvPr/>
        </p:nvSpPr>
        <p:spPr>
          <a:xfrm>
            <a:off x="320400" y="314280"/>
            <a:ext cx="7698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520" cy="71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9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1B6D5C-6E30-4126-A2E1-A98538D6A344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0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317160" y="2484000"/>
            <a:ext cx="4241520" cy="397332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Textmasterformate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584240" y="2484000"/>
            <a:ext cx="4242960" cy="39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feld 10"/>
          <p:cNvSpPr/>
          <p:nvPr/>
        </p:nvSpPr>
        <p:spPr>
          <a:xfrm>
            <a:off x="320400" y="314280"/>
            <a:ext cx="7698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4179600" cy="468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647240" y="1762200"/>
            <a:ext cx="4179600" cy="468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1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411A11-A5A1-4301-9994-A82A40218028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2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feld 10"/>
          <p:cNvSpPr/>
          <p:nvPr/>
        </p:nvSpPr>
        <p:spPr>
          <a:xfrm>
            <a:off x="320400" y="314280"/>
            <a:ext cx="7698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41" name="PlaceHolder 1"/>
          <p:cNvSpPr>
            <a:spLocks noGrp="1"/>
          </p:cNvSpPr>
          <p:nvPr>
            <p:ph type="body"/>
          </p:nvPr>
        </p:nvSpPr>
        <p:spPr>
          <a:xfrm>
            <a:off x="318960" y="2499480"/>
            <a:ext cx="8507520" cy="3961080"/>
          </a:xfrm>
          <a:prstGeom prst="rect">
            <a:avLst/>
          </a:prstGeom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42" name="PlaceHolder 2"/>
          <p:cNvSpPr>
            <a:spLocks noGrp="1"/>
          </p:cNvSpPr>
          <p:nvPr>
            <p:ph type="sldNum" idx="13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BAC293-BEAF-4F54-8EE1-12727F614FA8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 useBgFill="1">
        <p:nvSpPr>
          <p:cNvPr id="43" name="PlaceHolder 3"/>
          <p:cNvSpPr>
            <a:spLocks noGrp="1"/>
          </p:cNvSpPr>
          <p:nvPr>
            <p:ph type="ftr" idx="14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 useBgFill="1"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520" cy="713520"/>
          </a:xfrm>
          <a:prstGeom prst="rect">
            <a:avLst/>
          </a:prstGeom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oße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feld 10"/>
          <p:cNvSpPr/>
          <p:nvPr/>
        </p:nvSpPr>
        <p:spPr>
          <a:xfrm>
            <a:off x="320400" y="314280"/>
            <a:ext cx="7698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520" cy="71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5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CA375F-EB6A-413F-AF36-E85EF97389CD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16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0" y="2476440"/>
            <a:ext cx="9142560" cy="4380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er formatfülle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feld 10"/>
          <p:cNvSpPr/>
          <p:nvPr/>
        </p:nvSpPr>
        <p:spPr>
          <a:xfrm>
            <a:off x="320400" y="314280"/>
            <a:ext cx="7698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0" y="1691640"/>
            <a:ext cx="9142560" cy="516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17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9F6020-93CD-46CD-815C-6ACB33A6E469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18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Text (Hintergrund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feld 10"/>
          <p:cNvSpPr/>
          <p:nvPr/>
        </p:nvSpPr>
        <p:spPr>
          <a:xfrm>
            <a:off x="320400" y="314280"/>
            <a:ext cx="7698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echteck 8"/>
          <p:cNvSpPr/>
          <p:nvPr/>
        </p:nvSpPr>
        <p:spPr>
          <a:xfrm>
            <a:off x="0" y="2477160"/>
            <a:ext cx="9142560" cy="4379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endParaRPr lang="de-DE" sz="1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520" cy="71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ldNum" idx="19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7FA3CD-07B2-4A79-B069-8F0BE6268799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20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317160" y="2484000"/>
            <a:ext cx="4241520" cy="397332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Textmasterformate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4584240" y="2484000"/>
            <a:ext cx="4242960" cy="39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body"/>
          </p:nvPr>
        </p:nvSpPr>
        <p:spPr>
          <a:xfrm>
            <a:off x="318960" y="1978560"/>
            <a:ext cx="8507520" cy="1272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Referent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Ort, Datum (Schreibweise: 00. Januar 2015)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hteck 13"/>
          <p:cNvSpPr/>
          <p:nvPr/>
        </p:nvSpPr>
        <p:spPr>
          <a:xfrm>
            <a:off x="8347680" y="6408360"/>
            <a:ext cx="573840" cy="35712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ldNum" idx="21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B02AEF-B6B3-4F1A-8385-9F8F9C46ED71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ftr" idx="22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520" cy="4698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23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F20445-800F-4C41-B011-097069522E59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ftr" idx="24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 useBgFill="1">
        <p:nvSpPr>
          <p:cNvPr id="80" name="PlaceHolder 1"/>
          <p:cNvSpPr>
            <a:spLocks noGrp="1"/>
          </p:cNvSpPr>
          <p:nvPr>
            <p:ph type="body"/>
          </p:nvPr>
        </p:nvSpPr>
        <p:spPr>
          <a:xfrm>
            <a:off x="318960" y="2499480"/>
            <a:ext cx="8507520" cy="3961080"/>
          </a:xfrm>
          <a:prstGeom prst="rect">
            <a:avLst/>
          </a:prstGeom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81" name="PlaceHolder 2"/>
          <p:cNvSpPr>
            <a:spLocks noGrp="1"/>
          </p:cNvSpPr>
          <p:nvPr>
            <p:ph type="sldNum" idx="25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B80FD8-2FA1-4ED6-A8C2-2AE39B53B0D0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 useBgFill="1">
        <p:nvSpPr>
          <p:cNvPr id="82" name="PlaceHolder 3"/>
          <p:cNvSpPr>
            <a:spLocks noGrp="1"/>
          </p:cNvSpPr>
          <p:nvPr>
            <p:ph type="ftr" idx="26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 useBgFill="1"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520" cy="713520"/>
          </a:xfrm>
          <a:prstGeom prst="rect">
            <a:avLst/>
          </a:prstGeom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4179600" cy="468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647240" y="1762200"/>
            <a:ext cx="4179600" cy="468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27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977A54-E7BB-4D65-9744-2987AB8CBFBE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 idx="28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520" cy="71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29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897685-051B-4A60-8098-2087E4FFF826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ftr" idx="30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317160" y="2484000"/>
            <a:ext cx="4241520" cy="397332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Textmasterformate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body"/>
          </p:nvPr>
        </p:nvSpPr>
        <p:spPr>
          <a:xfrm>
            <a:off x="4584240" y="2484000"/>
            <a:ext cx="4242960" cy="39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Rechteck 8"/>
          <p:cNvSpPr/>
          <p:nvPr/>
        </p:nvSpPr>
        <p:spPr>
          <a:xfrm>
            <a:off x="0" y="2477160"/>
            <a:ext cx="9142560" cy="4379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endParaRPr lang="de-DE" sz="1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520" cy="71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31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28D42D-F52C-472B-8E96-1177879A7FD7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ftr" idx="32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317160" y="2484000"/>
            <a:ext cx="4241520" cy="397332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Textmasterformate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body"/>
          </p:nvPr>
        </p:nvSpPr>
        <p:spPr>
          <a:xfrm>
            <a:off x="4584240" y="2484000"/>
            <a:ext cx="4242960" cy="39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6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520" cy="71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ldNum" idx="33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1A1ACE-3434-4763-9490-70561E21358D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ftr" idx="34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0" y="2476440"/>
            <a:ext cx="9142560" cy="4380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PlaceHolder 1"/>
          <p:cNvSpPr>
            <a:spLocks noGrp="1"/>
          </p:cNvSpPr>
          <p:nvPr>
            <p:ph type="body"/>
          </p:nvPr>
        </p:nvSpPr>
        <p:spPr>
          <a:xfrm>
            <a:off x="0" y="1691640"/>
            <a:ext cx="9142560" cy="516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Num" idx="35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2DB9AC-B305-4009-ABF2-23BAE9EF39C3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ftr" idx="36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670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87D37F2-D31B-40BD-A832-0D9B2F311C00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AFA03AA0-318A-4F9C-AA03-9C3882164F4B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image" Target="../media/image3.wmf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wmf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3.wmf"/><Relationship Id="rId3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8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96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Rechteck 13"/>
          <p:cNvSpPr/>
          <p:nvPr/>
        </p:nvSpPr>
        <p:spPr>
          <a:xfrm>
            <a:off x="8347680" y="6408360"/>
            <a:ext cx="573840" cy="35712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ftr" idx="1"/>
          </p:nvPr>
        </p:nvSpPr>
        <p:spPr>
          <a:xfrm>
            <a:off x="311040" y="6473160"/>
            <a:ext cx="7828200" cy="3834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&lt;页脚&gt;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2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5025FE-7A09-4D95-B2BE-4160A8BB9087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22"/>
          <p:cNvSpPr/>
          <p:nvPr/>
        </p:nvSpPr>
        <p:spPr>
          <a:xfrm>
            <a:off x="7713360" y="6563160"/>
            <a:ext cx="11138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r">
              <a:lnSpc>
                <a:spcPct val="114000"/>
              </a:lnSpc>
            </a:pPr>
            <a:fld id="{D0F7B931-D8F7-4954-9691-2165F7C0AB4B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Bild 4" descr="Fahnen_HG.jpg"/>
          <p:cNvPicPr/>
          <p:nvPr/>
        </p:nvPicPr>
        <p:blipFill>
          <a:blip r:embed="rId2"/>
          <a:stretch/>
        </p:blipFill>
        <p:spPr>
          <a:xfrm>
            <a:off x="-42480" y="0"/>
            <a:ext cx="9183600" cy="685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Bild 6" descr="20150416 tum logo blau png final.png"/>
          <p:cNvPicPr/>
          <p:nvPr/>
        </p:nvPicPr>
        <p:blipFill>
          <a:blip r:embed="rId3"/>
          <a:stretch/>
        </p:blipFill>
        <p:spPr>
          <a:xfrm>
            <a:off x="8222760" y="324720"/>
            <a:ext cx="59832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ftr" idx="3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0FB45F-D991-4553-9EBF-BD2429865CF5}" type="slidenum">
              <a: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hteck 5"/>
          <p:cNvSpPr/>
          <p:nvPr/>
        </p:nvSpPr>
        <p:spPr>
          <a:xfrm>
            <a:off x="0" y="0"/>
            <a:ext cx="9142560" cy="685656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t">
            <a:noAutofit/>
          </a:bodyPr>
          <a:p>
            <a:pPr algn="ctr">
              <a:lnSpc>
                <a:spcPct val="114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18" name="Bild 3" descr="20150416 tum logo blau png final.png"/>
          <p:cNvPicPr/>
          <p:nvPr/>
        </p:nvPicPr>
        <p:blipFill>
          <a:blip r:embed="rId2"/>
          <a:stretch/>
        </p:blipFill>
        <p:spPr>
          <a:xfrm>
            <a:off x="8222760" y="324720"/>
            <a:ext cx="59832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ftr" idx="37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ldNum" idx="38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04C6CD-49AA-40B8-BAAC-BFC6B736145C}" type="slidenum">
              <a: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hteck 6"/>
          <p:cNvSpPr/>
          <p:nvPr/>
        </p:nvSpPr>
        <p:spPr>
          <a:xfrm>
            <a:off x="0" y="0"/>
            <a:ext cx="9142560" cy="6856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t">
            <a:noAutofit/>
          </a:bodyPr>
          <a:p>
            <a:pPr algn="ctr">
              <a:lnSpc>
                <a:spcPct val="114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22" name="Bild 3" descr="20150416 tum logo blau png final.png"/>
          <p:cNvPicPr/>
          <p:nvPr/>
        </p:nvPicPr>
        <p:blipFill>
          <a:blip r:embed="rId2"/>
          <a:stretch/>
        </p:blipFill>
        <p:spPr>
          <a:xfrm>
            <a:off x="8222760" y="324720"/>
            <a:ext cx="598320" cy="3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ftr" idx="39"/>
          </p:nvPr>
        </p:nvSpPr>
        <p:spPr>
          <a:xfrm>
            <a:off x="311040" y="6473160"/>
            <a:ext cx="646272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40"/>
          </p:nvPr>
        </p:nvSpPr>
        <p:spPr>
          <a:xfrm>
            <a:off x="6774840" y="6473160"/>
            <a:ext cx="205056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992C74-210A-47B5-B443-6DA67E9F729A}" type="slidenum">
              <a: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image" Target="../media/image26.jpe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video" Target="../media/media27.mp4"/><Relationship Id="rId2" Type="http://schemas.microsoft.com/office/2007/relationships/media" Target="../media/media27.mp4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jpeg"/><Relationship Id="rId3" Type="http://schemas.openxmlformats.org/officeDocument/2006/relationships/image" Target="../media/image31.jpe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408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Self-Propelled Arm System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4"/>
          <p:cNvSpPr/>
          <p:nvPr/>
        </p:nvSpPr>
        <p:spPr>
          <a:xfrm>
            <a:off x="320040" y="1883520"/>
            <a:ext cx="1004400" cy="30600"/>
          </a:xfrm>
          <a:prstGeom prst="rect">
            <a:avLst/>
          </a:prstGeom>
          <a:solidFill>
            <a:srgbClr val="e372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33" name="Picture 5" descr="robot_platform.jpg"/>
          <p:cNvPicPr/>
          <p:nvPr/>
        </p:nvPicPr>
        <p:blipFill>
          <a:blip r:embed="rId1"/>
          <a:stretch/>
        </p:blipFill>
        <p:spPr>
          <a:xfrm>
            <a:off x="320040" y="2212920"/>
            <a:ext cx="3519000" cy="238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Box 6"/>
          <p:cNvSpPr/>
          <p:nvPr/>
        </p:nvSpPr>
        <p:spPr>
          <a:xfrm>
            <a:off x="4206240" y="2761560"/>
            <a:ext cx="46162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Project presentation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7"/>
          <p:cNvSpPr/>
          <p:nvPr/>
        </p:nvSpPr>
        <p:spPr>
          <a:xfrm>
            <a:off x="4206240" y="3072240"/>
            <a:ext cx="4616280" cy="576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4206240" y="3255120"/>
            <a:ext cx="46162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spcAft>
                <a:spcPts val="201"/>
              </a:spcAft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Filip Chekalkin, Huaijing Hou, Spaska Janeva, Kamen Kanev,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  <a:spcAft>
                <a:spcPts val="201"/>
              </a:spcAft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Giorgi Khundadze, Xiaosheng Tan, Stoyan Vlaev, Weiye Yuan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9"/>
          <p:cNvSpPr/>
          <p:nvPr/>
        </p:nvSpPr>
        <p:spPr>
          <a:xfrm>
            <a:off x="4206240" y="3986640"/>
            <a:ext cx="46162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</a:pPr>
            <a:r>
              <a:rPr lang="de-DE" sz="10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Embedded Systems, Cyber-Physical Systems and Robotics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lang="de-DE" sz="10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Technical University of Munich, Campus Heilbronn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311040" y="6473880"/>
            <a:ext cx="6399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408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Introduction and Outline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320040" y="1463040"/>
            <a:ext cx="8511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Overview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311040" y="6473880"/>
            <a:ext cx="6399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5"/>
          <p:cNvSpPr/>
          <p:nvPr/>
        </p:nvSpPr>
        <p:spPr>
          <a:xfrm>
            <a:off x="6775560" y="6473880"/>
            <a:ext cx="2046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2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6"/>
          <p:cNvSpPr/>
          <p:nvPr/>
        </p:nvSpPr>
        <p:spPr>
          <a:xfrm>
            <a:off x="320040" y="1847160"/>
            <a:ext cx="5073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System summary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7"/>
          <p:cNvSpPr/>
          <p:nvPr/>
        </p:nvSpPr>
        <p:spPr>
          <a:xfrm>
            <a:off x="320040" y="228132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521280" y="2231280"/>
            <a:ext cx="48722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Autonomous can collection robot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521280" y="2450520"/>
            <a:ext cx="487224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Tracked indoor platform with a four link arm and a parallel gripper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320040" y="301284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1"/>
          <p:cNvSpPr/>
          <p:nvPr/>
        </p:nvSpPr>
        <p:spPr>
          <a:xfrm>
            <a:off x="521280" y="2962800"/>
            <a:ext cx="48722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 single RGB camera as the only sensor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2"/>
          <p:cNvSpPr/>
          <p:nvPr/>
        </p:nvSpPr>
        <p:spPr>
          <a:xfrm>
            <a:off x="521280" y="3182040"/>
            <a:ext cx="487224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No depth sensor, no range finder, no wheel encoders, no force sensing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13"/>
          <p:cNvSpPr/>
          <p:nvPr/>
        </p:nvSpPr>
        <p:spPr>
          <a:xfrm>
            <a:off x="320040" y="374436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4"/>
          <p:cNvSpPr/>
          <p:nvPr/>
        </p:nvSpPr>
        <p:spPr>
          <a:xfrm>
            <a:off x="521280" y="3694320"/>
            <a:ext cx="48722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Vision in the loop at every stage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5"/>
          <p:cNvSpPr/>
          <p:nvPr/>
        </p:nvSpPr>
        <p:spPr>
          <a:xfrm>
            <a:off x="521280" y="3913560"/>
            <a:ext cx="487224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Search, approach, grasp and delivery are decided from the image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Picture 16" descr="targets_and_bin.jpg"/>
          <p:cNvPicPr/>
          <p:nvPr/>
        </p:nvPicPr>
        <p:blipFill>
          <a:blip r:embed="rId1"/>
          <a:stretch/>
        </p:blipFill>
        <p:spPr>
          <a:xfrm>
            <a:off x="320040" y="4498920"/>
            <a:ext cx="2741760" cy="182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Rectangle 18"/>
          <p:cNvSpPr/>
          <p:nvPr/>
        </p:nvSpPr>
        <p:spPr>
          <a:xfrm>
            <a:off x="5577840" y="1847160"/>
            <a:ext cx="5760" cy="434196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9"/>
          <p:cNvSpPr/>
          <p:nvPr/>
        </p:nvSpPr>
        <p:spPr>
          <a:xfrm>
            <a:off x="5833800" y="1847160"/>
            <a:ext cx="298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Outline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Picture 20" descr="ic_target.png"/>
          <p:cNvPicPr/>
          <p:nvPr/>
        </p:nvPicPr>
        <p:blipFill>
          <a:blip r:embed="rId2"/>
          <a:stretch/>
        </p:blipFill>
        <p:spPr>
          <a:xfrm>
            <a:off x="5833800" y="2286000"/>
            <a:ext cx="309600" cy="3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Box 21"/>
          <p:cNvSpPr/>
          <p:nvPr/>
        </p:nvSpPr>
        <p:spPr>
          <a:xfrm>
            <a:off x="6254640" y="2267640"/>
            <a:ext cx="25678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Problem and platform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22"/>
          <p:cNvSpPr/>
          <p:nvPr/>
        </p:nvSpPr>
        <p:spPr>
          <a:xfrm>
            <a:off x="6254640" y="2523600"/>
            <a:ext cx="25678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Task definition and hardware constraints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23" descr="ic_sitemap.png"/>
          <p:cNvPicPr/>
          <p:nvPr/>
        </p:nvPicPr>
        <p:blipFill>
          <a:blip r:embed="rId3"/>
          <a:stretch/>
        </p:blipFill>
        <p:spPr>
          <a:xfrm>
            <a:off x="5833800" y="3090600"/>
            <a:ext cx="309600" cy="3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Box 24"/>
          <p:cNvSpPr/>
          <p:nvPr/>
        </p:nvSpPr>
        <p:spPr>
          <a:xfrm>
            <a:off x="6254640" y="3072240"/>
            <a:ext cx="25678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Architecture and control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5"/>
          <p:cNvSpPr/>
          <p:nvPr/>
        </p:nvSpPr>
        <p:spPr>
          <a:xfrm>
            <a:off x="6254640" y="3328560"/>
            <a:ext cx="25678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System components, state machine, grasping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26" descr="ic_camera.png"/>
          <p:cNvPicPr/>
          <p:nvPr/>
        </p:nvPicPr>
        <p:blipFill>
          <a:blip r:embed="rId4"/>
          <a:stretch/>
        </p:blipFill>
        <p:spPr>
          <a:xfrm>
            <a:off x="5833800" y="3895200"/>
            <a:ext cx="309600" cy="3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Box 27"/>
          <p:cNvSpPr/>
          <p:nvPr/>
        </p:nvSpPr>
        <p:spPr>
          <a:xfrm>
            <a:off x="6254640" y="3877200"/>
            <a:ext cx="25678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Perception and demonstration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8"/>
          <p:cNvSpPr/>
          <p:nvPr/>
        </p:nvSpPr>
        <p:spPr>
          <a:xfrm>
            <a:off x="6254640" y="4133160"/>
            <a:ext cx="25678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Detection results and a complete run on hardware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Picture 29" descr="ic_grid.png"/>
          <p:cNvPicPr/>
          <p:nvPr/>
        </p:nvPicPr>
        <p:blipFill>
          <a:blip r:embed="rId5"/>
          <a:stretch/>
        </p:blipFill>
        <p:spPr>
          <a:xfrm>
            <a:off x="5833800" y="4700160"/>
            <a:ext cx="309600" cy="3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Box 30"/>
          <p:cNvSpPr/>
          <p:nvPr/>
        </p:nvSpPr>
        <p:spPr>
          <a:xfrm>
            <a:off x="6254640" y="4681800"/>
            <a:ext cx="25678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Experimental results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31"/>
          <p:cNvSpPr/>
          <p:nvPr/>
        </p:nvSpPr>
        <p:spPr>
          <a:xfrm>
            <a:off x="6254640" y="4937760"/>
            <a:ext cx="25678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Detector accuracy and mission timing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Picture 32" descr="ic_check.png"/>
          <p:cNvPicPr/>
          <p:nvPr/>
        </p:nvPicPr>
        <p:blipFill>
          <a:blip r:embed="rId6"/>
          <a:stretch/>
        </p:blipFill>
        <p:spPr>
          <a:xfrm>
            <a:off x="5833800" y="5504760"/>
            <a:ext cx="309600" cy="3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Box 33"/>
          <p:cNvSpPr/>
          <p:nvPr/>
        </p:nvSpPr>
        <p:spPr>
          <a:xfrm>
            <a:off x="6254640" y="5486400"/>
            <a:ext cx="25678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Limitations and conclusion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4"/>
          <p:cNvSpPr/>
          <p:nvPr/>
        </p:nvSpPr>
        <p:spPr>
          <a:xfrm>
            <a:off x="6254640" y="5742360"/>
            <a:ext cx="25678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Open issues, summary and future work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408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 Statement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320040" y="1463040"/>
            <a:ext cx="8511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Objective and constraints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311040" y="6473880"/>
            <a:ext cx="6399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6775560" y="6473880"/>
            <a:ext cx="2046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3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320040" y="1847160"/>
            <a:ext cx="507348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25000"/>
              </a:lnSpc>
              <a:spcAft>
                <a:spcPts val="4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Drink cans accumulate in indoor public spaces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25000"/>
              </a:lnSpc>
              <a:spcAft>
                <a:spcPts val="4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Collection is repetitive, low risk manual work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25000"/>
              </a:lnSpc>
              <a:spcAft>
                <a:spcPts val="4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The task combines perception, navigation, decision making and manipulation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Picture 7" descr="ic_search.png"/>
          <p:cNvPicPr/>
          <p:nvPr/>
        </p:nvPicPr>
        <p:blipFill>
          <a:blip r:embed="rId1"/>
          <a:stretch/>
        </p:blipFill>
        <p:spPr>
          <a:xfrm>
            <a:off x="320040" y="3035880"/>
            <a:ext cx="309600" cy="3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Box 8"/>
          <p:cNvSpPr/>
          <p:nvPr/>
        </p:nvSpPr>
        <p:spPr>
          <a:xfrm>
            <a:off x="740520" y="3017520"/>
            <a:ext cx="46530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Detection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740520" y="3273480"/>
            <a:ext cx="46530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Rotate in place until the detector accepts a target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10"/>
          <p:cNvSpPr/>
          <p:nvPr/>
        </p:nvSpPr>
        <p:spPr>
          <a:xfrm>
            <a:off x="461880" y="3383280"/>
            <a:ext cx="16920" cy="327600"/>
          </a:xfrm>
          <a:prstGeom prst="rect">
            <a:avLst/>
          </a:prstGeom>
          <a:solidFill>
            <a:srgbClr val="98c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80" name="Picture 11" descr="ic_send.png"/>
          <p:cNvPicPr/>
          <p:nvPr/>
        </p:nvPicPr>
        <p:blipFill>
          <a:blip r:embed="rId2"/>
          <a:stretch/>
        </p:blipFill>
        <p:spPr>
          <a:xfrm>
            <a:off x="320040" y="3767400"/>
            <a:ext cx="309600" cy="3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Box 12"/>
          <p:cNvSpPr/>
          <p:nvPr/>
        </p:nvSpPr>
        <p:spPr>
          <a:xfrm>
            <a:off x="740520" y="3749040"/>
            <a:ext cx="46530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Approach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3"/>
          <p:cNvSpPr/>
          <p:nvPr/>
        </p:nvSpPr>
        <p:spPr>
          <a:xfrm>
            <a:off x="740520" y="4005000"/>
            <a:ext cx="46530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Steer on the image error, stop on apparent size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14"/>
          <p:cNvSpPr/>
          <p:nvPr/>
        </p:nvSpPr>
        <p:spPr>
          <a:xfrm>
            <a:off x="461880" y="4114800"/>
            <a:ext cx="16920" cy="327600"/>
          </a:xfrm>
          <a:prstGeom prst="rect">
            <a:avLst/>
          </a:prstGeom>
          <a:solidFill>
            <a:srgbClr val="98c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84" name="Picture 15" descr="ic_wrench.png"/>
          <p:cNvPicPr/>
          <p:nvPr/>
        </p:nvPicPr>
        <p:blipFill>
          <a:blip r:embed="rId3"/>
          <a:stretch/>
        </p:blipFill>
        <p:spPr>
          <a:xfrm>
            <a:off x="320040" y="4498920"/>
            <a:ext cx="309600" cy="3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Box 16"/>
          <p:cNvSpPr/>
          <p:nvPr/>
        </p:nvSpPr>
        <p:spPr>
          <a:xfrm>
            <a:off x="740520" y="4480560"/>
            <a:ext cx="46530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Grasp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7"/>
          <p:cNvSpPr/>
          <p:nvPr/>
        </p:nvSpPr>
        <p:spPr>
          <a:xfrm>
            <a:off x="740520" y="4736520"/>
            <a:ext cx="46530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Lower the arm, push, close, lift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18"/>
          <p:cNvSpPr/>
          <p:nvPr/>
        </p:nvSpPr>
        <p:spPr>
          <a:xfrm>
            <a:off x="461880" y="4846320"/>
            <a:ext cx="16920" cy="327600"/>
          </a:xfrm>
          <a:prstGeom prst="rect">
            <a:avLst/>
          </a:prstGeom>
          <a:solidFill>
            <a:srgbClr val="98c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88" name="Picture 19" descr="ic_tag.png"/>
          <p:cNvPicPr/>
          <p:nvPr/>
        </p:nvPicPr>
        <p:blipFill>
          <a:blip r:embed="rId4"/>
          <a:stretch/>
        </p:blipFill>
        <p:spPr>
          <a:xfrm>
            <a:off x="320040" y="5230440"/>
            <a:ext cx="309600" cy="3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Box 20"/>
          <p:cNvSpPr/>
          <p:nvPr/>
        </p:nvSpPr>
        <p:spPr>
          <a:xfrm>
            <a:off x="740520" y="5212080"/>
            <a:ext cx="46530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Delivery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21"/>
          <p:cNvSpPr/>
          <p:nvPr/>
        </p:nvSpPr>
        <p:spPr>
          <a:xfrm>
            <a:off x="740520" y="5468040"/>
            <a:ext cx="46530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Dock on the AprilTag and release above the bin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22"/>
          <p:cNvSpPr/>
          <p:nvPr/>
        </p:nvSpPr>
        <p:spPr>
          <a:xfrm>
            <a:off x="5706000" y="1847160"/>
            <a:ext cx="5760" cy="415908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3"/>
          <p:cNvSpPr/>
          <p:nvPr/>
        </p:nvSpPr>
        <p:spPr>
          <a:xfrm>
            <a:off x="5989320" y="1847160"/>
            <a:ext cx="2833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Sensor configuration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24"/>
          <p:cNvSpPr/>
          <p:nvPr/>
        </p:nvSpPr>
        <p:spPr>
          <a:xfrm>
            <a:off x="5989320" y="233640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5"/>
          <p:cNvSpPr/>
          <p:nvPr/>
        </p:nvSpPr>
        <p:spPr>
          <a:xfrm>
            <a:off x="6190560" y="2286000"/>
            <a:ext cx="26319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Single RGB camera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27"/>
          <p:cNvSpPr/>
          <p:nvPr/>
        </p:nvSpPr>
        <p:spPr>
          <a:xfrm>
            <a:off x="5989320" y="304956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28"/>
          <p:cNvSpPr/>
          <p:nvPr/>
        </p:nvSpPr>
        <p:spPr>
          <a:xfrm>
            <a:off x="6190560" y="2999160"/>
            <a:ext cx="26319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No depth sensing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30"/>
          <p:cNvSpPr/>
          <p:nvPr/>
        </p:nvSpPr>
        <p:spPr>
          <a:xfrm>
            <a:off x="5989320" y="376272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31"/>
          <p:cNvSpPr/>
          <p:nvPr/>
        </p:nvSpPr>
        <p:spPr>
          <a:xfrm>
            <a:off x="6190560" y="3712320"/>
            <a:ext cx="26319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No wheel encoders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33"/>
          <p:cNvSpPr/>
          <p:nvPr/>
        </p:nvSpPr>
        <p:spPr>
          <a:xfrm>
            <a:off x="5989320" y="447588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34"/>
          <p:cNvSpPr/>
          <p:nvPr/>
        </p:nvSpPr>
        <p:spPr>
          <a:xfrm>
            <a:off x="6190560" y="4425840"/>
            <a:ext cx="26319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No force sensing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"/>
          <p:cNvPicPr/>
          <p:nvPr/>
        </p:nvPicPr>
        <p:blipFill>
          <a:blip r:embed="rId1"/>
          <a:stretch/>
        </p:blipFill>
        <p:spPr>
          <a:xfrm>
            <a:off x="2016360" y="1620000"/>
            <a:ext cx="6802920" cy="510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"/>
          <p:cNvSpPr/>
          <p:nvPr/>
        </p:nvSpPr>
        <p:spPr>
          <a:xfrm>
            <a:off x="360000" y="553320"/>
            <a:ext cx="2848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“actors” of the show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408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System Architecture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3"/>
          <p:cNvSpPr/>
          <p:nvPr/>
        </p:nvSpPr>
        <p:spPr>
          <a:xfrm>
            <a:off x="320040" y="1463040"/>
            <a:ext cx="8511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Components and software framework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4"/>
          <p:cNvSpPr/>
          <p:nvPr/>
        </p:nvSpPr>
        <p:spPr>
          <a:xfrm>
            <a:off x="311040" y="6473880"/>
            <a:ext cx="6399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5"/>
          <p:cNvSpPr/>
          <p:nvPr/>
        </p:nvSpPr>
        <p:spPr>
          <a:xfrm>
            <a:off x="6775560" y="6473880"/>
            <a:ext cx="2046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4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6"/>
          <p:cNvSpPr/>
          <p:nvPr/>
        </p:nvSpPr>
        <p:spPr>
          <a:xfrm>
            <a:off x="320040" y="1828800"/>
            <a:ext cx="8511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Three subsystems are connected to the Jetson Nano. Only the servo chain reports its state back.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7"/>
          <p:cNvSpPr/>
          <p:nvPr/>
        </p:nvSpPr>
        <p:spPr>
          <a:xfrm>
            <a:off x="3611880" y="3063240"/>
            <a:ext cx="1873080" cy="867240"/>
          </a:xfrm>
          <a:prstGeom prst="roundRect">
            <a:avLst>
              <a:gd name="adj" fmla="val 8000"/>
            </a:avLst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09" name="Picture 8" descr="ic_chip.png"/>
          <p:cNvPicPr/>
          <p:nvPr/>
        </p:nvPicPr>
        <p:blipFill>
          <a:blip r:embed="rId1"/>
          <a:stretch/>
        </p:blipFill>
        <p:spPr>
          <a:xfrm>
            <a:off x="3758040" y="3337560"/>
            <a:ext cx="309600" cy="3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Box 9"/>
          <p:cNvSpPr/>
          <p:nvPr/>
        </p:nvSpPr>
        <p:spPr>
          <a:xfrm>
            <a:off x="4142160" y="3246120"/>
            <a:ext cx="12330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Jetson Nano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9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 GB shared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10"/>
          <p:cNvSpPr/>
          <p:nvPr/>
        </p:nvSpPr>
        <p:spPr>
          <a:xfrm>
            <a:off x="502920" y="3127320"/>
            <a:ext cx="2101680" cy="73008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12" name="Picture 11" descr="ic_camera.png"/>
          <p:cNvPicPr/>
          <p:nvPr/>
        </p:nvPicPr>
        <p:blipFill>
          <a:blip r:embed="rId2"/>
          <a:stretch/>
        </p:blipFill>
        <p:spPr>
          <a:xfrm>
            <a:off x="658440" y="3319200"/>
            <a:ext cx="291240" cy="29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Box 12"/>
          <p:cNvSpPr/>
          <p:nvPr/>
        </p:nvSpPr>
        <p:spPr>
          <a:xfrm>
            <a:off x="1051560" y="3237120"/>
            <a:ext cx="14616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CSI camera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9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3200 x 2400 (at max)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4" name="Connector 13"/>
          <p:cNvCxnSpPr/>
          <p:nvPr/>
        </p:nvCxnSpPr>
        <p:spPr>
          <a:xfrm>
            <a:off x="2606040" y="3492720"/>
            <a:ext cx="1007280" cy="1440"/>
          </a:xfrm>
          <a:prstGeom prst="straightConnector1">
            <a:avLst/>
          </a:prstGeom>
          <a:ln w="19050">
            <a:solidFill>
              <a:srgbClr val="0065bd"/>
            </a:solidFill>
            <a:round/>
          </a:ln>
        </p:spPr>
      </p:cxnSp>
      <p:sp>
        <p:nvSpPr>
          <p:cNvPr id="215" name="TextBox 14"/>
          <p:cNvSpPr/>
          <p:nvPr/>
        </p:nvSpPr>
        <p:spPr>
          <a:xfrm>
            <a:off x="2670120" y="3237120"/>
            <a:ext cx="9129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de-DE" sz="900" b="1" u="none" strike="noStrike">
                <a:solidFill>
                  <a:srgbClr val="005293"/>
                </a:solidFill>
                <a:effectLst/>
                <a:uFillTx/>
                <a:latin typeface="Arial"/>
              </a:rPr>
              <a:t>CSI-2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5"/>
          <p:cNvSpPr/>
          <p:nvPr/>
        </p:nvSpPr>
        <p:spPr>
          <a:xfrm>
            <a:off x="2615040" y="3547800"/>
            <a:ext cx="10044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de-DE" sz="85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frames in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16"/>
          <p:cNvSpPr/>
          <p:nvPr/>
        </p:nvSpPr>
        <p:spPr>
          <a:xfrm>
            <a:off x="6537960" y="1974960"/>
            <a:ext cx="2238840" cy="8946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18" name="Picture 17" descr="ic_tank.png"/>
          <p:cNvPicPr/>
          <p:nvPr/>
        </p:nvPicPr>
        <p:blipFill>
          <a:blip r:embed="rId3"/>
          <a:stretch/>
        </p:blipFill>
        <p:spPr>
          <a:xfrm>
            <a:off x="6693480" y="2194560"/>
            <a:ext cx="291240" cy="29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Box 18"/>
          <p:cNvSpPr/>
          <p:nvPr/>
        </p:nvSpPr>
        <p:spPr>
          <a:xfrm>
            <a:off x="7086600" y="2103120"/>
            <a:ext cx="15987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Two track motors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9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PWM via motor driver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9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no position feedback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0" name="Connector 19"/>
          <p:cNvCxnSpPr/>
          <p:nvPr/>
        </p:nvCxnSpPr>
        <p:spPr>
          <a:xfrm flipV="1">
            <a:off x="5486400" y="2423160"/>
            <a:ext cx="1053000" cy="915840"/>
          </a:xfrm>
          <a:prstGeom prst="straightConnector1">
            <a:avLst/>
          </a:prstGeom>
          <a:ln w="19050">
            <a:solidFill>
              <a:srgbClr val="0065bd"/>
            </a:solidFill>
            <a:round/>
          </a:ln>
        </p:spPr>
      </p:cxnSp>
      <p:sp>
        <p:nvSpPr>
          <p:cNvPr id="221" name="Rounded Rectangle 20"/>
          <p:cNvSpPr/>
          <p:nvPr/>
        </p:nvSpPr>
        <p:spPr>
          <a:xfrm>
            <a:off x="6537960" y="3785760"/>
            <a:ext cx="2238840" cy="8946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22" name="Picture 21" descr="ic_wrench.png"/>
          <p:cNvPicPr/>
          <p:nvPr/>
        </p:nvPicPr>
        <p:blipFill>
          <a:blip r:embed="rId4"/>
          <a:stretch/>
        </p:blipFill>
        <p:spPr>
          <a:xfrm>
            <a:off x="6693480" y="4005000"/>
            <a:ext cx="291240" cy="29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Box 22"/>
          <p:cNvSpPr/>
          <p:nvPr/>
        </p:nvSpPr>
        <p:spPr>
          <a:xfrm>
            <a:off x="7086600" y="3913560"/>
            <a:ext cx="15987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Five bus servos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9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one TTL serial chain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950" b="1" u="none" strike="noStrike">
                <a:solidFill>
                  <a:srgbClr val="005293"/>
                </a:solidFill>
                <a:effectLst/>
                <a:uFillTx/>
                <a:latin typeface="Arial"/>
              </a:rPr>
              <a:t>position readable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4" name="Connector 23"/>
          <p:cNvCxnSpPr/>
          <p:nvPr/>
        </p:nvCxnSpPr>
        <p:spPr>
          <a:xfrm>
            <a:off x="5486400" y="3657600"/>
            <a:ext cx="1053000" cy="577440"/>
          </a:xfrm>
          <a:prstGeom prst="straightConnector1">
            <a:avLst/>
          </a:prstGeom>
          <a:ln w="19050">
            <a:solidFill>
              <a:srgbClr val="0065bd"/>
            </a:solidFill>
            <a:round/>
          </a:ln>
        </p:spPr>
      </p:cxnSp>
      <p:sp>
        <p:nvSpPr>
          <p:cNvPr id="225" name="Rounded Rectangle 24"/>
          <p:cNvSpPr/>
          <p:nvPr/>
        </p:nvSpPr>
        <p:spPr>
          <a:xfrm>
            <a:off x="6583680" y="4809600"/>
            <a:ext cx="345960" cy="345960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25"/>
          <p:cNvSpPr/>
          <p:nvPr/>
        </p:nvSpPr>
        <p:spPr>
          <a:xfrm>
            <a:off x="6583680" y="4892040"/>
            <a:ext cx="3459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de-DE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S1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26"/>
          <p:cNvSpPr/>
          <p:nvPr/>
        </p:nvSpPr>
        <p:spPr>
          <a:xfrm>
            <a:off x="7022520" y="4809600"/>
            <a:ext cx="345960" cy="345960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7"/>
          <p:cNvSpPr/>
          <p:nvPr/>
        </p:nvSpPr>
        <p:spPr>
          <a:xfrm>
            <a:off x="7022520" y="4892040"/>
            <a:ext cx="3459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de-DE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S2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9" name="Connector 28"/>
          <p:cNvCxnSpPr/>
          <p:nvPr/>
        </p:nvCxnSpPr>
        <p:spPr>
          <a:xfrm>
            <a:off x="6931080" y="4983480"/>
            <a:ext cx="92880" cy="1440"/>
          </a:xfrm>
          <a:prstGeom prst="straightConnector1">
            <a:avLst/>
          </a:prstGeom>
          <a:ln w="12700">
            <a:solidFill>
              <a:srgbClr val="64a0c8"/>
            </a:solidFill>
            <a:round/>
          </a:ln>
        </p:spPr>
      </p:cxnSp>
      <p:sp>
        <p:nvSpPr>
          <p:cNvPr id="230" name="Rounded Rectangle 29"/>
          <p:cNvSpPr/>
          <p:nvPr/>
        </p:nvSpPr>
        <p:spPr>
          <a:xfrm>
            <a:off x="7461360" y="4809600"/>
            <a:ext cx="345960" cy="345960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30"/>
          <p:cNvSpPr/>
          <p:nvPr/>
        </p:nvSpPr>
        <p:spPr>
          <a:xfrm>
            <a:off x="7461360" y="4892040"/>
            <a:ext cx="3459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de-DE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S3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2" name="Connector 31"/>
          <p:cNvCxnSpPr/>
          <p:nvPr/>
        </p:nvCxnSpPr>
        <p:spPr>
          <a:xfrm>
            <a:off x="7369920" y="4983480"/>
            <a:ext cx="92880" cy="1440"/>
          </a:xfrm>
          <a:prstGeom prst="straightConnector1">
            <a:avLst/>
          </a:prstGeom>
          <a:ln w="12700">
            <a:solidFill>
              <a:srgbClr val="64a0c8"/>
            </a:solidFill>
            <a:round/>
          </a:ln>
        </p:spPr>
      </p:cxnSp>
      <p:sp>
        <p:nvSpPr>
          <p:cNvPr id="233" name="Rounded Rectangle 32"/>
          <p:cNvSpPr/>
          <p:nvPr/>
        </p:nvSpPr>
        <p:spPr>
          <a:xfrm>
            <a:off x="7900560" y="4809600"/>
            <a:ext cx="345960" cy="345960"/>
          </a:xfrm>
          <a:prstGeom prst="roundRect">
            <a:avLst>
              <a:gd name="adj" fmla="val 8000"/>
            </a:avLst>
          </a:prstGeom>
          <a:solidFill>
            <a:srgbClr val="e372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3"/>
          <p:cNvSpPr/>
          <p:nvPr/>
        </p:nvSpPr>
        <p:spPr>
          <a:xfrm>
            <a:off x="7900560" y="4892040"/>
            <a:ext cx="3459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de-DE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S4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5" name="Connector 34"/>
          <p:cNvCxnSpPr/>
          <p:nvPr/>
        </p:nvCxnSpPr>
        <p:spPr>
          <a:xfrm>
            <a:off x="7808760" y="4983480"/>
            <a:ext cx="92880" cy="1440"/>
          </a:xfrm>
          <a:prstGeom prst="straightConnector1">
            <a:avLst/>
          </a:prstGeom>
          <a:ln w="12700">
            <a:solidFill>
              <a:srgbClr val="64a0c8"/>
            </a:solidFill>
            <a:round/>
          </a:ln>
        </p:spPr>
      </p:cxnSp>
      <p:sp>
        <p:nvSpPr>
          <p:cNvPr id="236" name="Rounded Rectangle 35"/>
          <p:cNvSpPr/>
          <p:nvPr/>
        </p:nvSpPr>
        <p:spPr>
          <a:xfrm>
            <a:off x="8339400" y="4809600"/>
            <a:ext cx="345960" cy="345960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36"/>
          <p:cNvSpPr/>
          <p:nvPr/>
        </p:nvSpPr>
        <p:spPr>
          <a:xfrm>
            <a:off x="8339400" y="4892040"/>
            <a:ext cx="3459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de-DE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S5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8" name="Connector 37"/>
          <p:cNvCxnSpPr/>
          <p:nvPr/>
        </p:nvCxnSpPr>
        <p:spPr>
          <a:xfrm>
            <a:off x="8247600" y="4983480"/>
            <a:ext cx="92880" cy="1440"/>
          </a:xfrm>
          <a:prstGeom prst="straightConnector1">
            <a:avLst/>
          </a:prstGeom>
          <a:ln w="12700">
            <a:solidFill>
              <a:srgbClr val="64a0c8"/>
            </a:solidFill>
            <a:round/>
          </a:ln>
        </p:spPr>
      </p:cxnSp>
      <p:sp>
        <p:nvSpPr>
          <p:cNvPr id="239" name="TextBox 38"/>
          <p:cNvSpPr/>
          <p:nvPr/>
        </p:nvSpPr>
        <p:spPr>
          <a:xfrm>
            <a:off x="6537960" y="5230440"/>
            <a:ext cx="22388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5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S4 closes the gripper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ounded Rectangle 39"/>
          <p:cNvSpPr/>
          <p:nvPr/>
        </p:nvSpPr>
        <p:spPr>
          <a:xfrm>
            <a:off x="502920" y="4572000"/>
            <a:ext cx="2101680" cy="63864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40"/>
          <p:cNvSpPr/>
          <p:nvPr/>
        </p:nvSpPr>
        <p:spPr>
          <a:xfrm>
            <a:off x="658440" y="4736520"/>
            <a:ext cx="1827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Battery and power rail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2" name="Connector 41"/>
          <p:cNvCxnSpPr/>
          <p:nvPr/>
        </p:nvCxnSpPr>
        <p:spPr>
          <a:xfrm flipV="1">
            <a:off x="1554480" y="3858480"/>
            <a:ext cx="1440" cy="714960"/>
          </a:xfrm>
          <a:prstGeom prst="straightConnector1">
            <a:avLst/>
          </a:prstGeom>
          <a:ln w="15875">
            <a:solidFill>
              <a:srgbClr val="8a8a8a"/>
            </a:solidFill>
            <a:prstDash val="dash"/>
            <a:round/>
          </a:ln>
        </p:spPr>
      </p:cxnSp>
      <p:cxnSp>
        <p:nvCxnSpPr>
          <p:cNvPr id="243" name="Connector 42"/>
          <p:cNvCxnSpPr/>
          <p:nvPr/>
        </p:nvCxnSpPr>
        <p:spPr>
          <a:xfrm>
            <a:off x="2606040" y="4892040"/>
            <a:ext cx="1939680" cy="1440"/>
          </a:xfrm>
          <a:prstGeom prst="straightConnector1">
            <a:avLst/>
          </a:prstGeom>
          <a:ln w="15875">
            <a:solidFill>
              <a:srgbClr val="8a8a8a"/>
            </a:solidFill>
            <a:prstDash val="dash"/>
            <a:round/>
          </a:ln>
        </p:spPr>
      </p:cxnSp>
      <p:cxnSp>
        <p:nvCxnSpPr>
          <p:cNvPr id="244" name="Connector 43"/>
          <p:cNvCxnSpPr/>
          <p:nvPr/>
        </p:nvCxnSpPr>
        <p:spPr>
          <a:xfrm flipV="1">
            <a:off x="4544280" y="3931920"/>
            <a:ext cx="1440" cy="961560"/>
          </a:xfrm>
          <a:prstGeom prst="straightConnector1">
            <a:avLst/>
          </a:prstGeom>
          <a:ln w="15875">
            <a:solidFill>
              <a:srgbClr val="8a8a8a"/>
            </a:solidFill>
            <a:prstDash val="dash"/>
            <a:round/>
          </a:ln>
        </p:spPr>
      </p:cxnSp>
      <p:sp>
        <p:nvSpPr>
          <p:cNvPr id="245" name="TextBox 44"/>
          <p:cNvSpPr/>
          <p:nvPr/>
        </p:nvSpPr>
        <p:spPr>
          <a:xfrm>
            <a:off x="2880360" y="4937760"/>
            <a:ext cx="14616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5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power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45"/>
          <p:cNvSpPr/>
          <p:nvPr/>
        </p:nvSpPr>
        <p:spPr>
          <a:xfrm>
            <a:off x="320040" y="5577840"/>
            <a:ext cx="8511480" cy="576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46"/>
          <p:cNvSpPr/>
          <p:nvPr/>
        </p:nvSpPr>
        <p:spPr>
          <a:xfrm>
            <a:off x="320040" y="5706000"/>
            <a:ext cx="27417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Software stack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47"/>
          <p:cNvSpPr/>
          <p:nvPr/>
        </p:nvSpPr>
        <p:spPr>
          <a:xfrm>
            <a:off x="320040" y="6016680"/>
            <a:ext cx="67320" cy="144720"/>
          </a:xfrm>
          <a:prstGeom prst="rect">
            <a:avLst/>
          </a:prstGeom>
          <a:solidFill>
            <a:srgbClr val="005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48"/>
          <p:cNvSpPr/>
          <p:nvPr/>
        </p:nvSpPr>
        <p:spPr>
          <a:xfrm>
            <a:off x="466200" y="5970960"/>
            <a:ext cx="19645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Controller layer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49"/>
          <p:cNvSpPr/>
          <p:nvPr/>
        </p:nvSpPr>
        <p:spPr>
          <a:xfrm>
            <a:off x="466200" y="6163200"/>
            <a:ext cx="1964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</a:pPr>
            <a:r>
              <a:rPr lang="de-DE" sz="9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demo_core state machine, 16 states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50"/>
          <p:cNvSpPr/>
          <p:nvPr/>
        </p:nvSpPr>
        <p:spPr>
          <a:xfrm>
            <a:off x="2487240" y="601668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51"/>
          <p:cNvSpPr/>
          <p:nvPr/>
        </p:nvSpPr>
        <p:spPr>
          <a:xfrm>
            <a:off x="2633400" y="5970960"/>
            <a:ext cx="19645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Perception layer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52"/>
          <p:cNvSpPr/>
          <p:nvPr/>
        </p:nvSpPr>
        <p:spPr>
          <a:xfrm>
            <a:off x="2633400" y="6163200"/>
            <a:ext cx="1964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</a:pPr>
            <a:r>
              <a:rPr lang="de-DE" sz="9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detectNet, pupil_apriltags, OpenCV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53"/>
          <p:cNvSpPr/>
          <p:nvPr/>
        </p:nvSpPr>
        <p:spPr>
          <a:xfrm>
            <a:off x="4654440" y="6016680"/>
            <a:ext cx="67320" cy="144720"/>
          </a:xfrm>
          <a:prstGeom prst="rect">
            <a:avLst/>
          </a:prstGeom>
          <a:solidFill>
            <a:srgbClr val="64a0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54"/>
          <p:cNvSpPr/>
          <p:nvPr/>
        </p:nvSpPr>
        <p:spPr>
          <a:xfrm>
            <a:off x="4800600" y="5970960"/>
            <a:ext cx="19645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Hardware layer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55"/>
          <p:cNvSpPr/>
          <p:nvPr/>
        </p:nvSpPr>
        <p:spPr>
          <a:xfrm>
            <a:off x="4800600" y="6163200"/>
            <a:ext cx="1964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</a:pPr>
            <a:r>
              <a:rPr lang="de-DE" sz="9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jetbot Robot and Camera, TTLServo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56"/>
          <p:cNvSpPr/>
          <p:nvPr/>
        </p:nvSpPr>
        <p:spPr>
          <a:xfrm>
            <a:off x="6821280" y="6016680"/>
            <a:ext cx="67320" cy="144720"/>
          </a:xfrm>
          <a:prstGeom prst="rect">
            <a:avLst/>
          </a:prstGeom>
          <a:solidFill>
            <a:srgbClr val="98c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57"/>
          <p:cNvSpPr/>
          <p:nvPr/>
        </p:nvSpPr>
        <p:spPr>
          <a:xfrm>
            <a:off x="6967800" y="5970960"/>
            <a:ext cx="19645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Configuration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58"/>
          <p:cNvSpPr/>
          <p:nvPr/>
        </p:nvSpPr>
        <p:spPr>
          <a:xfrm>
            <a:off x="6967800" y="6163200"/>
            <a:ext cx="196452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</a:pPr>
            <a:r>
              <a:rPr lang="de-DE" sz="9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config.json, empirical_parameters.json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4000"/>
              </a:lnSpc>
            </a:pPr>
            <a:r>
              <a:rPr lang="de-DE" sz="9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camera_calibration.yml etc.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408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State Machine and Control Logic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3"/>
          <p:cNvSpPr/>
          <p:nvPr/>
        </p:nvSpPr>
        <p:spPr>
          <a:xfrm>
            <a:off x="320040" y="1463040"/>
            <a:ext cx="8511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Mission control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4"/>
          <p:cNvSpPr/>
          <p:nvPr/>
        </p:nvSpPr>
        <p:spPr>
          <a:xfrm>
            <a:off x="311040" y="6473880"/>
            <a:ext cx="6399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5"/>
          <p:cNvSpPr/>
          <p:nvPr/>
        </p:nvSpPr>
        <p:spPr>
          <a:xfrm>
            <a:off x="6775560" y="6473880"/>
            <a:ext cx="2046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5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7"/>
          <p:cNvSpPr/>
          <p:nvPr/>
        </p:nvSpPr>
        <p:spPr>
          <a:xfrm>
            <a:off x="320040" y="5175360"/>
            <a:ext cx="4844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5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Design level state graph. Transition guards are fields of a single shared context object.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8"/>
          <p:cNvSpPr/>
          <p:nvPr/>
        </p:nvSpPr>
        <p:spPr>
          <a:xfrm>
            <a:off x="5321880" y="2011680"/>
            <a:ext cx="5760" cy="361044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9"/>
          <p:cNvSpPr/>
          <p:nvPr/>
        </p:nvSpPr>
        <p:spPr>
          <a:xfrm>
            <a:off x="5532120" y="2011680"/>
            <a:ext cx="32904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Vision driven states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10"/>
          <p:cNvSpPr/>
          <p:nvPr/>
        </p:nvSpPr>
        <p:spPr>
          <a:xfrm>
            <a:off x="5532120" y="242784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1"/>
          <p:cNvSpPr/>
          <p:nvPr/>
        </p:nvSpPr>
        <p:spPr>
          <a:xfrm>
            <a:off x="5733360" y="2377440"/>
            <a:ext cx="30891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Searching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2"/>
          <p:cNvSpPr/>
          <p:nvPr/>
        </p:nvSpPr>
        <p:spPr>
          <a:xfrm>
            <a:off x="5733360" y="2597040"/>
            <a:ext cx="30891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9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Rotate until a target is accepted or the timeout expires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13"/>
          <p:cNvSpPr/>
          <p:nvPr/>
        </p:nvSpPr>
        <p:spPr>
          <a:xfrm>
            <a:off x="5532120" y="297648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4"/>
          <p:cNvSpPr/>
          <p:nvPr/>
        </p:nvSpPr>
        <p:spPr>
          <a:xfrm>
            <a:off x="5733360" y="2926080"/>
            <a:ext cx="30891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Aligning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5"/>
          <p:cNvSpPr/>
          <p:nvPr/>
        </p:nvSpPr>
        <p:spPr>
          <a:xfrm>
            <a:off x="5733360" y="3145680"/>
            <a:ext cx="30891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9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Turn to tolerance, abort if the target is lost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16"/>
          <p:cNvSpPr/>
          <p:nvPr/>
        </p:nvSpPr>
        <p:spPr>
          <a:xfrm>
            <a:off x="5532120" y="352512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7"/>
          <p:cNvSpPr/>
          <p:nvPr/>
        </p:nvSpPr>
        <p:spPr>
          <a:xfrm>
            <a:off x="5733360" y="3474720"/>
            <a:ext cx="30891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Approaching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8"/>
          <p:cNvSpPr/>
          <p:nvPr/>
        </p:nvSpPr>
        <p:spPr>
          <a:xfrm>
            <a:off x="5733360" y="3694320"/>
            <a:ext cx="30891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9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Steer or drive forward, stop on apparent size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19"/>
          <p:cNvSpPr/>
          <p:nvPr/>
        </p:nvSpPr>
        <p:spPr>
          <a:xfrm>
            <a:off x="5532120" y="407376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0"/>
          <p:cNvSpPr/>
          <p:nvPr/>
        </p:nvSpPr>
        <p:spPr>
          <a:xfrm>
            <a:off x="5733360" y="4023360"/>
            <a:ext cx="30891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Final verification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1"/>
          <p:cNvSpPr/>
          <p:nvPr/>
        </p:nvSpPr>
        <p:spPr>
          <a:xfrm>
            <a:off x="5733360" y="4242960"/>
            <a:ext cx="30891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9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Tighter tolerance over consecutive frames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ounded Rectangle 22"/>
          <p:cNvSpPr/>
          <p:nvPr/>
        </p:nvSpPr>
        <p:spPr>
          <a:xfrm>
            <a:off x="5532120" y="4626720"/>
            <a:ext cx="3290400" cy="98604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3"/>
          <p:cNvSpPr/>
          <p:nvPr/>
        </p:nvSpPr>
        <p:spPr>
          <a:xfrm>
            <a:off x="5687640" y="4736520"/>
            <a:ext cx="30160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4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e</a:t>
            </a:r>
            <a:r>
              <a:rPr lang="de-DE" sz="9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x</a:t>
            </a:r>
            <a:r>
              <a:rPr lang="de-DE" sz="14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 = ( x</a:t>
            </a:r>
            <a:r>
              <a:rPr lang="de-DE" sz="9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</a:t>
            </a:r>
            <a:r>
              <a:rPr lang="de-DE" sz="14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 - W/2 ) / W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4"/>
          <p:cNvSpPr/>
          <p:nvPr/>
        </p:nvSpPr>
        <p:spPr>
          <a:xfrm>
            <a:off x="5687640" y="5102280"/>
            <a:ext cx="30160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14000"/>
              </a:lnSpc>
              <a:buClr>
                <a:srgbClr val="0065bd"/>
              </a:buClr>
              <a:buFont typeface="Arial"/>
              <a:buChar char="•"/>
            </a:pPr>
            <a:r>
              <a:rPr lang="de-DE" sz="9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Range -0.5 to 0.5, negative to the left of centre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4000"/>
              </a:lnSpc>
              <a:buClr>
                <a:srgbClr val="0065bd"/>
              </a:buClr>
              <a:buFont typeface="Arial"/>
              <a:buChar char="•"/>
            </a:pPr>
            <a:r>
              <a:rPr lang="de-DE" sz="9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Stop thresholds: 0.36 box height, 0.15 tag height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25"/>
          <p:cNvSpPr/>
          <p:nvPr/>
        </p:nvSpPr>
        <p:spPr>
          <a:xfrm>
            <a:off x="320040" y="5742360"/>
            <a:ext cx="8511480" cy="576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6"/>
          <p:cNvSpPr/>
          <p:nvPr/>
        </p:nvSpPr>
        <p:spPr>
          <a:xfrm>
            <a:off x="320040" y="5888880"/>
            <a:ext cx="8511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18000"/>
              </a:lnSpc>
              <a:spcAft>
                <a:spcPts val="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Transitions are held in an explicit table, so an undeclared state and event pair raises an error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8000"/>
              </a:lnSpc>
              <a:spcAft>
                <a:spcPts val="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Finalising requires a stable target, a condition map based navigation never reaches, so dead reckoning triggers no action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4" name=""/>
          <p:cNvPicPr/>
          <p:nvPr/>
        </p:nvPicPr>
        <p:blipFill>
          <a:blip r:embed="rId1"/>
          <a:stretch/>
        </p:blipFill>
        <p:spPr>
          <a:xfrm>
            <a:off x="235800" y="1718640"/>
            <a:ext cx="4672800" cy="345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"/>
          <p:cNvPicPr/>
          <p:nvPr/>
        </p:nvPicPr>
        <p:blipFill>
          <a:blip r:embed="rId1"/>
          <a:stretch/>
        </p:blipFill>
        <p:spPr>
          <a:xfrm>
            <a:off x="375120" y="720000"/>
            <a:ext cx="7787160" cy="575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"/>
          <p:cNvPicPr/>
          <p:nvPr/>
        </p:nvPicPr>
        <p:blipFill>
          <a:blip r:embed="rId1"/>
          <a:stretch/>
        </p:blipFill>
        <p:spPr>
          <a:xfrm>
            <a:off x="-180000" y="3056400"/>
            <a:ext cx="9142560" cy="234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"/>
          <p:cNvSpPr/>
          <p:nvPr/>
        </p:nvSpPr>
        <p:spPr>
          <a:xfrm>
            <a:off x="180000" y="553680"/>
            <a:ext cx="620316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Finalizing: abstraction of docking at bin and picking up cans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>
            <a:off x="180000" y="553680"/>
            <a:ext cx="28483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Side-docking? Why need?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180360" y="553680"/>
            <a:ext cx="28483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Side-docking? Why need?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0" name=""/>
          <p:cNvPicPr/>
          <p:nvPr/>
        </p:nvPicPr>
        <p:blipFill>
          <a:blip r:embed="rId1"/>
          <a:stretch/>
        </p:blipFill>
        <p:spPr>
          <a:xfrm>
            <a:off x="3420000" y="1989360"/>
            <a:ext cx="3952440" cy="3589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>
            <a:off x="180360" y="553680"/>
            <a:ext cx="880776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ground is a 2-dimensional space, to get back to the start point(has many benifits)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precisely as possible, we need to correct both the “z” and “x” coordinates!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150840" y="2173680"/>
            <a:ext cx="758808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Still didn’t solve the whole problem..but better than no stance docking.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ideal approach require stronger kinematic analysis and modeling instead of just naive discrete state workaround.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"/>
          <p:cNvPicPr/>
          <p:nvPr/>
        </p:nvPicPr>
        <p:blipFill>
          <a:blip r:embed="rId1"/>
          <a:stretch/>
        </p:blipFill>
        <p:spPr>
          <a:xfrm>
            <a:off x="0" y="1620000"/>
            <a:ext cx="9143640" cy="375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"/>
          <p:cNvPicPr/>
          <p:nvPr/>
        </p:nvPicPr>
        <p:blipFill>
          <a:blip r:embed="rId1"/>
          <a:stretch/>
        </p:blipFill>
        <p:spPr>
          <a:xfrm>
            <a:off x="36720" y="1620000"/>
            <a:ext cx="9142560" cy="475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"/>
          <p:cNvSpPr/>
          <p:nvPr/>
        </p:nvSpPr>
        <p:spPr>
          <a:xfrm>
            <a:off x="180000" y="553680"/>
            <a:ext cx="8331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re-localization design origin(CPS slides):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Here: GPS=AprilTag, Inertial Navigation done by calibrated “speed” look up table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"/>
          <p:cNvSpPr/>
          <p:nvPr/>
        </p:nvSpPr>
        <p:spPr>
          <a:xfrm>
            <a:off x="180360" y="554040"/>
            <a:ext cx="8650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robot.forward(„speed“): argument in the TTLServo function calls → implemented by 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Fixed Voltage.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180000" y="1521720"/>
            <a:ext cx="3076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Linear dynamic model exist?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4696920" y="1620000"/>
            <a:ext cx="376236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de-DE" sz="1000" b="0" u="none" strike="noStrike">
              <a:solidFill>
                <a:srgbClr val="000000"/>
              </a:solidFill>
              <a:effectLst/>
              <a:uFillTx/>
              <a:latin typeface="NSimSun;Liberation Mono;Courier New"/>
              <a:ea typeface="NSimSun;Liberation Mono;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>
            <a:off x="180360" y="554040"/>
            <a:ext cx="8650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robot.forward(„speed“): argument in the TTLServo function calls → implemented by 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Fixed Voltage.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180000" y="1521720"/>
            <a:ext cx="7969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Linear dynamic model exist? Kind of, but for our very fragile (edge computing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 modern AI) sensing system, the precision still breaks the tolerance.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1" name=""/>
          <p:cNvPicPr/>
          <p:nvPr/>
        </p:nvPicPr>
        <p:blipFill>
          <a:blip r:embed="rId1"/>
          <a:stretch/>
        </p:blipFill>
        <p:spPr>
          <a:xfrm>
            <a:off x="360000" y="2274840"/>
            <a:ext cx="6116040" cy="420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"/>
          <p:cNvSpPr/>
          <p:nvPr/>
        </p:nvSpPr>
        <p:spPr>
          <a:xfrm>
            <a:off x="4696920" y="1620000"/>
            <a:ext cx="376236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de-DE" sz="1000" b="0" u="none" strike="noStrike">
              <a:solidFill>
                <a:srgbClr val="000000"/>
              </a:solidFill>
              <a:effectLst/>
              <a:uFillTx/>
              <a:latin typeface="NSimSun;Liberation Mono;Courier New"/>
              <a:ea typeface="NSimSun;Liberation Mono;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>
            <a:off x="180360" y="1522080"/>
            <a:ext cx="81345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Our (Stupid) Solution: Look up table with fixed “speed” parameters and tie it to 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enviroment e.g. the ground in the lecture hall in Weiperstrasse. 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180000" y="441720"/>
            <a:ext cx="6130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Smart Solution: Taking chip temperture, friction coefficient, 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slipping/drifting factor etc. into account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" name=""/>
          <p:cNvPicPr/>
          <p:nvPr/>
        </p:nvPicPr>
        <p:blipFill>
          <a:blip r:embed="rId1"/>
          <a:stretch/>
        </p:blipFill>
        <p:spPr>
          <a:xfrm>
            <a:off x="900000" y="2597400"/>
            <a:ext cx="6659280" cy="29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"/>
          <p:cNvSpPr/>
          <p:nvPr/>
        </p:nvSpPr>
        <p:spPr>
          <a:xfrm>
            <a:off x="324720" y="5841720"/>
            <a:ext cx="738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Then calibrate/test it again in somewhere else...troublesome but works.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408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Can Grasping </a:t>
            </a: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Strategy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3"/>
          <p:cNvSpPr/>
          <p:nvPr/>
        </p:nvSpPr>
        <p:spPr>
          <a:xfrm>
            <a:off x="320040" y="1463040"/>
            <a:ext cx="8511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Manipulation sequence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4"/>
          <p:cNvSpPr/>
          <p:nvPr/>
        </p:nvSpPr>
        <p:spPr>
          <a:xfrm>
            <a:off x="311040" y="6473880"/>
            <a:ext cx="6399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5"/>
          <p:cNvSpPr/>
          <p:nvPr/>
        </p:nvSpPr>
        <p:spPr>
          <a:xfrm>
            <a:off x="6775560" y="6473880"/>
            <a:ext cx="2046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6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6"/>
          <p:cNvSpPr/>
          <p:nvPr/>
        </p:nvSpPr>
        <p:spPr>
          <a:xfrm>
            <a:off x="320040" y="1828800"/>
            <a:ext cx="851148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Fixed poses — no inverse kinematics(since no sensor on the gripper)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ounded Rectangle 7"/>
          <p:cNvSpPr/>
          <p:nvPr/>
        </p:nvSpPr>
        <p:spPr>
          <a:xfrm>
            <a:off x="320040" y="2157840"/>
            <a:ext cx="1297080" cy="1041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8"/>
          <p:cNvSpPr/>
          <p:nvPr/>
        </p:nvSpPr>
        <p:spPr>
          <a:xfrm>
            <a:off x="448200" y="2267640"/>
            <a:ext cx="10411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9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1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9"/>
          <p:cNvSpPr/>
          <p:nvPr/>
        </p:nvSpPr>
        <p:spPr>
          <a:xfrm>
            <a:off x="448200" y="2468880"/>
            <a:ext cx="10411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Wait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0"/>
          <p:cNvSpPr/>
          <p:nvPr/>
        </p:nvSpPr>
        <p:spPr>
          <a:xfrm>
            <a:off x="448200" y="2706480"/>
            <a:ext cx="104112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</a:pPr>
            <a:r>
              <a:rPr lang="de-DE" sz="8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2.0 s settle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ounded Rectangle 11"/>
          <p:cNvSpPr/>
          <p:nvPr/>
        </p:nvSpPr>
        <p:spPr>
          <a:xfrm>
            <a:off x="1691640" y="2157840"/>
            <a:ext cx="1297080" cy="1041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12"/>
          <p:cNvSpPr/>
          <p:nvPr/>
        </p:nvSpPr>
        <p:spPr>
          <a:xfrm>
            <a:off x="1819800" y="2267640"/>
            <a:ext cx="10411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9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2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13"/>
          <p:cNvSpPr/>
          <p:nvPr/>
        </p:nvSpPr>
        <p:spPr>
          <a:xfrm>
            <a:off x="1819800" y="2468880"/>
            <a:ext cx="10411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Lower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14"/>
          <p:cNvSpPr/>
          <p:nvPr/>
        </p:nvSpPr>
        <p:spPr>
          <a:xfrm>
            <a:off x="1819800" y="2706480"/>
            <a:ext cx="104112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</a:pPr>
            <a:r>
              <a:rPr lang="de-DE" sz="8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arm_down pose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ounded Rectangle 15"/>
          <p:cNvSpPr/>
          <p:nvPr/>
        </p:nvSpPr>
        <p:spPr>
          <a:xfrm>
            <a:off x="3063240" y="2157840"/>
            <a:ext cx="1297080" cy="1041120"/>
          </a:xfrm>
          <a:prstGeom prst="roundRect">
            <a:avLst>
              <a:gd name="adj" fmla="val 8000"/>
            </a:avLst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16"/>
          <p:cNvSpPr/>
          <p:nvPr/>
        </p:nvSpPr>
        <p:spPr>
          <a:xfrm>
            <a:off x="3191400" y="2267640"/>
            <a:ext cx="10411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17"/>
          <p:cNvSpPr/>
          <p:nvPr/>
        </p:nvSpPr>
        <p:spPr>
          <a:xfrm>
            <a:off x="3191400" y="2468880"/>
            <a:ext cx="10411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Push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18"/>
          <p:cNvSpPr/>
          <p:nvPr/>
        </p:nvSpPr>
        <p:spPr>
          <a:xfrm>
            <a:off x="3191400" y="2706480"/>
            <a:ext cx="104112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</a:pPr>
            <a:r>
              <a:rPr lang="de-DE" sz="8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Slow forward drive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ounded Rectangle 19"/>
          <p:cNvSpPr/>
          <p:nvPr/>
        </p:nvSpPr>
        <p:spPr>
          <a:xfrm>
            <a:off x="4434840" y="2157840"/>
            <a:ext cx="1297080" cy="1041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20"/>
          <p:cNvSpPr/>
          <p:nvPr/>
        </p:nvSpPr>
        <p:spPr>
          <a:xfrm>
            <a:off x="4563000" y="2267640"/>
            <a:ext cx="10411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9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4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21"/>
          <p:cNvSpPr/>
          <p:nvPr/>
        </p:nvSpPr>
        <p:spPr>
          <a:xfrm>
            <a:off x="4563000" y="2468880"/>
            <a:ext cx="10411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Hold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22"/>
          <p:cNvSpPr/>
          <p:nvPr/>
        </p:nvSpPr>
        <p:spPr>
          <a:xfrm>
            <a:off x="4563000" y="2706480"/>
            <a:ext cx="104112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</a:pPr>
            <a:r>
              <a:rPr lang="de-DE" sz="8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5.0 s lock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ounded Rectangle 23"/>
          <p:cNvSpPr/>
          <p:nvPr/>
        </p:nvSpPr>
        <p:spPr>
          <a:xfrm>
            <a:off x="5806440" y="2157840"/>
            <a:ext cx="1297080" cy="1041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24"/>
          <p:cNvSpPr/>
          <p:nvPr/>
        </p:nvSpPr>
        <p:spPr>
          <a:xfrm>
            <a:off x="5934600" y="2267640"/>
            <a:ext cx="10411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9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5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25"/>
          <p:cNvSpPr/>
          <p:nvPr/>
        </p:nvSpPr>
        <p:spPr>
          <a:xfrm>
            <a:off x="5934600" y="2468880"/>
            <a:ext cx="10411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Close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26"/>
          <p:cNvSpPr/>
          <p:nvPr/>
        </p:nvSpPr>
        <p:spPr>
          <a:xfrm>
            <a:off x="5934600" y="2706480"/>
            <a:ext cx="104112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</a:pPr>
            <a:r>
              <a:rPr lang="de-DE" sz="8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Grab pose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ounded Rectangle 27"/>
          <p:cNvSpPr/>
          <p:nvPr/>
        </p:nvSpPr>
        <p:spPr>
          <a:xfrm>
            <a:off x="7178040" y="2157840"/>
            <a:ext cx="1297080" cy="1041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28"/>
          <p:cNvSpPr/>
          <p:nvPr/>
        </p:nvSpPr>
        <p:spPr>
          <a:xfrm>
            <a:off x="7306200" y="2267640"/>
            <a:ext cx="10411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9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6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29"/>
          <p:cNvSpPr/>
          <p:nvPr/>
        </p:nvSpPr>
        <p:spPr>
          <a:xfrm>
            <a:off x="7306200" y="2468880"/>
            <a:ext cx="10411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Lift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30"/>
          <p:cNvSpPr/>
          <p:nvPr/>
        </p:nvSpPr>
        <p:spPr>
          <a:xfrm>
            <a:off x="7306200" y="2706480"/>
            <a:ext cx="104112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</a:pPr>
            <a:r>
              <a:rPr lang="de-DE" sz="8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Carry pose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6" name="Picture 31" descr="grasp_sequence.jpg"/>
          <p:cNvPicPr/>
          <p:nvPr/>
        </p:nvPicPr>
        <p:blipFill>
          <a:blip r:embed="rId1"/>
          <a:stretch/>
        </p:blipFill>
        <p:spPr>
          <a:xfrm>
            <a:off x="320040" y="3346560"/>
            <a:ext cx="3656160" cy="274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TextBox 32"/>
          <p:cNvSpPr/>
          <p:nvPr/>
        </p:nvSpPr>
        <p:spPr>
          <a:xfrm>
            <a:off x="320040" y="6144840"/>
            <a:ext cx="3656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Verify · push · close · carry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33"/>
          <p:cNvSpPr/>
          <p:nvPr/>
        </p:nvSpPr>
        <p:spPr>
          <a:xfrm>
            <a:off x="4224600" y="3346560"/>
            <a:ext cx="45979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Why push, not reach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34"/>
          <p:cNvSpPr/>
          <p:nvPr/>
        </p:nvSpPr>
        <p:spPr>
          <a:xfrm>
            <a:off x="4224600" y="3657600"/>
            <a:ext cx="4597920" cy="10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18000"/>
              </a:lnSpc>
              <a:spcAft>
                <a:spcPts val="499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Short arm, imprecise gripper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8000"/>
              </a:lnSpc>
              <a:spcAft>
                <a:spcPts val="499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Base drives reliably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8000"/>
              </a:lnSpc>
              <a:spcAft>
                <a:spcPts val="499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Can driven into open gripper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8000"/>
              </a:lnSpc>
              <a:spcAft>
                <a:spcPts val="499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Coarse motion beats fine manipulation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35"/>
          <p:cNvSpPr/>
          <p:nvPr/>
        </p:nvSpPr>
        <p:spPr>
          <a:xfrm>
            <a:off x="4224600" y="4809600"/>
            <a:ext cx="45979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Servo feedback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36"/>
          <p:cNvSpPr/>
          <p:nvPr/>
        </p:nvSpPr>
        <p:spPr>
          <a:xfrm>
            <a:off x="4224600" y="5120640"/>
            <a:ext cx="459792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18000"/>
              </a:lnSpc>
              <a:spcAft>
                <a:spcPts val="4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Polled until readings stabilise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8000"/>
              </a:lnSpc>
              <a:spcAft>
                <a:spcPts val="4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Push blocked until settled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8000"/>
              </a:lnSpc>
              <a:spcAft>
                <a:spcPts val="4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4.94 s settle · 7.0 s push · 5.0 s hold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408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Experimental Setup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4"/>
          <p:cNvSpPr/>
          <p:nvPr/>
        </p:nvSpPr>
        <p:spPr>
          <a:xfrm>
            <a:off x="311040" y="6473880"/>
            <a:ext cx="6399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5"/>
          <p:cNvSpPr/>
          <p:nvPr/>
        </p:nvSpPr>
        <p:spPr>
          <a:xfrm>
            <a:off x="6775560" y="6473880"/>
            <a:ext cx="2046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7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5" name="Picture 6" descr="robot_platform.jpg"/>
          <p:cNvPicPr/>
          <p:nvPr/>
        </p:nvPicPr>
        <p:blipFill>
          <a:blip r:embed="rId1"/>
          <a:stretch/>
        </p:blipFill>
        <p:spPr>
          <a:xfrm>
            <a:off x="320040" y="2011680"/>
            <a:ext cx="2558880" cy="173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6" name="Picture 7" descr="targets_and_bin.jpg"/>
          <p:cNvPicPr/>
          <p:nvPr/>
        </p:nvPicPr>
        <p:blipFill>
          <a:blip r:embed="rId2"/>
          <a:stretch/>
        </p:blipFill>
        <p:spPr>
          <a:xfrm>
            <a:off x="3008520" y="2011680"/>
            <a:ext cx="2604600" cy="173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7" name="Picture 8" descr="bin_release.jpg"/>
          <p:cNvPicPr/>
          <p:nvPr/>
        </p:nvPicPr>
        <p:blipFill>
          <a:blip r:embed="rId3"/>
          <a:stretch/>
        </p:blipFill>
        <p:spPr>
          <a:xfrm>
            <a:off x="5742360" y="2011680"/>
            <a:ext cx="3080880" cy="173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TextBox 9"/>
          <p:cNvSpPr/>
          <p:nvPr/>
        </p:nvSpPr>
        <p:spPr>
          <a:xfrm>
            <a:off x="320040" y="3877200"/>
            <a:ext cx="2558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Platform with grasped can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10"/>
          <p:cNvSpPr/>
          <p:nvPr/>
        </p:nvSpPr>
        <p:spPr>
          <a:xfrm>
            <a:off x="3008520" y="3877200"/>
            <a:ext cx="2604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Arena: can, AprilTag bin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11"/>
          <p:cNvSpPr/>
          <p:nvPr/>
        </p:nvSpPr>
        <p:spPr>
          <a:xfrm>
            <a:off x="5742360" y="3877200"/>
            <a:ext cx="3080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Release above bin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12"/>
          <p:cNvSpPr/>
          <p:nvPr/>
        </p:nvSpPr>
        <p:spPr>
          <a:xfrm>
            <a:off x="320040" y="4498920"/>
            <a:ext cx="8511480" cy="576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13"/>
          <p:cNvSpPr/>
          <p:nvPr/>
        </p:nvSpPr>
        <p:spPr>
          <a:xfrm>
            <a:off x="320040" y="4681800"/>
            <a:ext cx="2010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3000" b="1" u="none" strike="noStrike">
                <a:solidFill>
                  <a:srgbClr val="0065bd"/>
                </a:solidFill>
                <a:effectLst/>
                <a:uFillTx/>
                <a:latin typeface="Arial"/>
              </a:rPr>
              <a:t>73.8 s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14"/>
          <p:cNvSpPr/>
          <p:nvPr/>
        </p:nvSpPr>
        <p:spPr>
          <a:xfrm>
            <a:off x="320040" y="510228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Full run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15"/>
          <p:cNvSpPr/>
          <p:nvPr/>
        </p:nvSpPr>
        <p:spPr>
          <a:xfrm>
            <a:off x="2514600" y="4681800"/>
            <a:ext cx="2010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3000" b="1" u="none" strike="noStrike">
                <a:solidFill>
                  <a:srgbClr val="0065bd"/>
                </a:solidFill>
                <a:effectLst/>
                <a:uFillTx/>
                <a:latin typeface="Arial"/>
              </a:rPr>
              <a:t>1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6"/>
          <p:cNvSpPr/>
          <p:nvPr/>
        </p:nvSpPr>
        <p:spPr>
          <a:xfrm>
            <a:off x="2514600" y="510228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Camera only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7"/>
          <p:cNvSpPr/>
          <p:nvPr/>
        </p:nvSpPr>
        <p:spPr>
          <a:xfrm>
            <a:off x="4754880" y="4681800"/>
            <a:ext cx="2010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3000" b="1" u="none" strike="noStrike">
                <a:solidFill>
                  <a:srgbClr val="0065bd"/>
                </a:solidFill>
                <a:effectLst/>
                <a:uFillTx/>
                <a:latin typeface="Arial"/>
              </a:rPr>
              <a:t>98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18"/>
          <p:cNvSpPr/>
          <p:nvPr/>
        </p:nvSpPr>
        <p:spPr>
          <a:xfrm>
            <a:off x="4754880" y="510228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Can detections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9"/>
          <p:cNvSpPr/>
          <p:nvPr/>
        </p:nvSpPr>
        <p:spPr>
          <a:xfrm>
            <a:off x="6812280" y="4681800"/>
            <a:ext cx="2010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3000" b="1" u="none" strike="noStrike">
                <a:solidFill>
                  <a:srgbClr val="0065bd"/>
                </a:solidFill>
                <a:effectLst/>
                <a:uFillTx/>
                <a:latin typeface="Arial"/>
              </a:rPr>
              <a:t>41 / 59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20"/>
          <p:cNvSpPr/>
          <p:nvPr/>
        </p:nvSpPr>
        <p:spPr>
          <a:xfrm>
            <a:off x="6812280" y="510228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Tag reads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3104280" y="5667480"/>
            <a:ext cx="3195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According to „some piece“ of our testing logs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96360" y="1762200"/>
            <a:ext cx="8353440" cy="4698000"/>
          </a:xfrm>
          <a:prstGeom prst="rect">
            <a:avLst/>
          </a:prstGeom>
          <a:ln w="0">
            <a:noFill/>
          </a:ln>
        </p:spPr>
      </p:pic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408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rm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Video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016" fill="hold"/>
                                        <p:tgtEl>
                                          <p:spTgt spid="3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>
                  <p:stCondLst>
                    <p:cond delay="indefinite"/>
                  </p:stCondLst>
                </p:cTn>
                <p:tgtEl>
                  <p:spTgt spid="361"/>
                </p:tgtEl>
              </p:cMediaNode>
            </p:video>
            <p:seq>
              <p:cTn id="7" restart="whenNotActive" fill="hold" nodeType="interactiveSeq">
                <p:stCondLst>
                  <p:cond delay="0" evt="onClick">
                    <p:tgtEl>
                      <p:spTgt spid="361"/>
                    </p:tgtEl>
                  </p:cond>
                </p:stCondLst>
                <p:childTnLst>
                  <p:par>
                    <p:cTn id="8" fill="hold">
                      <p:stCondLst>
                        <p:cond delay="0" evt="onClick">
                          <p:tgtEl>
                            <p:spTgt spid="361"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408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Object and Marker Detection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4"/>
          <p:cNvSpPr/>
          <p:nvPr/>
        </p:nvSpPr>
        <p:spPr>
          <a:xfrm>
            <a:off x="311040" y="6473880"/>
            <a:ext cx="6399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5"/>
          <p:cNvSpPr/>
          <p:nvPr/>
        </p:nvSpPr>
        <p:spPr>
          <a:xfrm>
            <a:off x="6775560" y="6473880"/>
            <a:ext cx="2046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8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6"/>
          <p:cNvSpPr/>
          <p:nvPr/>
        </p:nvSpPr>
        <p:spPr>
          <a:xfrm>
            <a:off x="320040" y="1828800"/>
            <a:ext cx="8511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Two detectors, every controller input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7" name="Picture 7" descr="can_predict.png"/>
          <p:cNvPicPr/>
          <p:nvPr/>
        </p:nvPicPr>
        <p:blipFill>
          <a:blip r:embed="rId1"/>
          <a:stretch/>
        </p:blipFill>
        <p:spPr>
          <a:xfrm>
            <a:off x="320040" y="2249280"/>
            <a:ext cx="2010240" cy="201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TextBox 8"/>
          <p:cNvSpPr/>
          <p:nvPr/>
        </p:nvSpPr>
        <p:spPr>
          <a:xfrm>
            <a:off x="320040" y="4370760"/>
            <a:ext cx="21016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Detector output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9"/>
          <p:cNvSpPr/>
          <p:nvPr/>
        </p:nvSpPr>
        <p:spPr>
          <a:xfrm>
            <a:off x="320040" y="4626720"/>
            <a:ext cx="2101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5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SSD-MobileNet-V1 · 300 × 300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Picture 10" descr="onboard_can_detection.jpg"/>
          <p:cNvPicPr/>
          <p:nvPr/>
        </p:nvPicPr>
        <p:blipFill>
          <a:blip r:embed="rId2"/>
          <a:stretch/>
        </p:blipFill>
        <p:spPr>
          <a:xfrm>
            <a:off x="2651760" y="2249280"/>
            <a:ext cx="2680920" cy="201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Box 11"/>
          <p:cNvSpPr/>
          <p:nvPr/>
        </p:nvSpPr>
        <p:spPr>
          <a:xfrm>
            <a:off x="2651760" y="4370760"/>
            <a:ext cx="26776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Can detection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12"/>
          <p:cNvSpPr/>
          <p:nvPr/>
        </p:nvSpPr>
        <p:spPr>
          <a:xfrm>
            <a:off x="2651760" y="4626720"/>
            <a:ext cx="2677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5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error −0.119 · height 0.255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Picture 13" descr="onboard_tag_detection.jpg"/>
          <p:cNvPicPr/>
          <p:nvPr/>
        </p:nvPicPr>
        <p:blipFill>
          <a:blip r:embed="rId3"/>
          <a:stretch/>
        </p:blipFill>
        <p:spPr>
          <a:xfrm>
            <a:off x="5715000" y="2249280"/>
            <a:ext cx="2680920" cy="201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TextBox 14"/>
          <p:cNvSpPr/>
          <p:nvPr/>
        </p:nvSpPr>
        <p:spPr>
          <a:xfrm>
            <a:off x="5715000" y="4370760"/>
            <a:ext cx="26776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Tag detection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15"/>
          <p:cNvSpPr/>
          <p:nvPr/>
        </p:nvSpPr>
        <p:spPr>
          <a:xfrm>
            <a:off x="5715000" y="4626720"/>
            <a:ext cx="2677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5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tag36h11 id 0 · height 0.186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4"/>
          <p:cNvSpPr/>
          <p:nvPr/>
        </p:nvSpPr>
        <p:spPr>
          <a:xfrm>
            <a:off x="180000" y="994320"/>
            <a:ext cx="8507520" cy="4089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t">
            <a:noAutofit/>
          </a:bodyPr>
          <a:p>
            <a:pPr>
              <a:lnSpc>
                <a:spcPts val="3200"/>
              </a:lnSpc>
              <a:tabLst>
                <a:tab algn="l" pos="0"/>
              </a:tabLst>
            </a:pPr>
            <a:r>
              <a:rPr lang="de-DE" sz="10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 experimental feature we didn’t integrate. Purple is the computed tangent of the obstacle.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"/>
          <p:cNvPicPr/>
          <p:nvPr/>
        </p:nvPicPr>
        <p:blipFill>
          <a:blip r:embed="rId1"/>
          <a:stretch/>
        </p:blipFill>
        <p:spPr>
          <a:xfrm>
            <a:off x="900000" y="1920960"/>
            <a:ext cx="6101280" cy="455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PlaceHolder 5"/>
          <p:cNvSpPr/>
          <p:nvPr/>
        </p:nvSpPr>
        <p:spPr>
          <a:xfrm>
            <a:off x="180000" y="490320"/>
            <a:ext cx="8507520" cy="4089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t">
            <a:noAutofit/>
          </a:bodyPr>
          <a:p>
            <a:pPr>
              <a:lnSpc>
                <a:spcPts val="3200"/>
              </a:lnSpc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Obstacle avoidance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E454CE1-8091-4B68-912C-94F236766A64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"/>
          <p:cNvSpPr/>
          <p:nvPr/>
        </p:nvSpPr>
        <p:spPr>
          <a:xfrm>
            <a:off x="318960" y="994320"/>
            <a:ext cx="85075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Detector Training Results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320040" y="1847160"/>
            <a:ext cx="41133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Detector F1 by evaluation set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1" name="Detector F1 from training report"/>
          <p:cNvGraphicFramePr/>
          <p:nvPr/>
        </p:nvGraphicFramePr>
        <p:xfrm>
          <a:off x="320040" y="2121480"/>
          <a:ext cx="4113360" cy="200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2" name=""/>
          <p:cNvSpPr/>
          <p:nvPr/>
        </p:nvSpPr>
        <p:spPr>
          <a:xfrm>
            <a:off x="4709160" y="2121480"/>
            <a:ext cx="4113360" cy="2000160"/>
          </a:xfrm>
          <a:prstGeom prst="rect">
            <a:avLst/>
          </a:prstGeom>
          <a:noFill/>
          <a:ln w="9525">
            <a:solidFill>
              <a:srgbClr val="d8d8d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</a:pPr>
            <a:r>
              <a:rPr lang="de-DE" sz="1050" b="0" u="none" strike="noStrike">
                <a:solidFill>
                  <a:srgbClr val="a0a0a0"/>
                </a:solidFill>
                <a:effectLst/>
                <a:uFillTx/>
                <a:latin typeface="Arial"/>
                <a:ea typeface="Arial"/>
              </a:rPr>
              <a:t>Insert Jetson Nano test result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320040" y="4260960"/>
            <a:ext cx="8511480" cy="576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320040" y="442584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600" b="1" u="none" strike="noStrike">
                <a:solidFill>
                  <a:srgbClr val="0065bd"/>
                </a:solidFill>
                <a:effectLst/>
                <a:uFillTx/>
                <a:latin typeface="Arial"/>
                <a:ea typeface="Arial"/>
              </a:rPr>
              <a:t>671</a:t>
            </a:r>
            <a:endParaRPr lang="de-DE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320040" y="4846320"/>
            <a:ext cx="201024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Training images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2514600" y="442584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600" b="1" u="none" strike="noStrike">
                <a:solidFill>
                  <a:srgbClr val="0065bd"/>
                </a:solidFill>
                <a:effectLst/>
                <a:uFillTx/>
                <a:latin typeface="Arial"/>
                <a:ea typeface="Arial"/>
              </a:rPr>
              <a:t>194</a:t>
            </a:r>
            <a:endParaRPr lang="de-DE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2514600" y="4846320"/>
            <a:ext cx="201024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Validation images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4754880" y="442584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600" b="1" u="none" strike="noStrike">
                <a:solidFill>
                  <a:srgbClr val="e37222"/>
                </a:solidFill>
                <a:effectLst/>
                <a:uFillTx/>
                <a:latin typeface="Arial"/>
                <a:ea typeface="Arial"/>
              </a:rPr>
              <a:t>0.6637</a:t>
            </a:r>
            <a:endParaRPr lang="de-DE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4754880" y="4846320"/>
            <a:ext cx="201024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Best validation mAP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6812280" y="442584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020" b="1" u="none" strike="noStrike">
                <a:solidFill>
                  <a:srgbClr val="0065bd"/>
                </a:solidFill>
                <a:effectLst/>
                <a:uFillTx/>
                <a:latin typeface="Arial"/>
                <a:ea typeface="Arial"/>
              </a:rPr>
              <a:t>Epoch 22</a:t>
            </a:r>
            <a:endParaRPr lang="de-DE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6812280" y="4846320"/>
            <a:ext cx="201024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Selected refinement epoch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320040" y="5321880"/>
            <a:ext cx="8511480" cy="576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4480560" y="5431680"/>
            <a:ext cx="5760" cy="10044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320040" y="5468040"/>
            <a:ext cx="40402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Training setup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320040" y="5742360"/>
            <a:ext cx="40402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52280" indent="-88920">
              <a:lnSpc>
                <a:spcPct val="100000"/>
              </a:lnSpc>
              <a:spcAft>
                <a:spcPts val="400"/>
              </a:spcAft>
              <a:buClr>
                <a:srgbClr val="5a5a5a"/>
              </a:buClr>
              <a:buFont typeface="Symbol" charset="2"/>
              <a:buChar char=""/>
            </a:pPr>
            <a:r>
              <a:rPr lang="de-DE" sz="989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MobileNet V1 SSD at 300 × 300</a:t>
            </a:r>
            <a:endParaRPr lang="de-DE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88920">
              <a:lnSpc>
                <a:spcPct val="100000"/>
              </a:lnSpc>
              <a:spcAft>
                <a:spcPts val="400"/>
              </a:spcAft>
              <a:buClr>
                <a:srgbClr val="5a5a5a"/>
              </a:buClr>
              <a:buFont typeface="Symbol" charset="2"/>
              <a:buChar char=""/>
            </a:pPr>
            <a:r>
              <a:rPr lang="de-DE" sz="989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30 initial epochs and 40 refinement epochs</a:t>
            </a:r>
            <a:endParaRPr lang="de-DE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88920">
              <a:lnSpc>
                <a:spcPct val="100000"/>
              </a:lnSpc>
              <a:spcAft>
                <a:spcPts val="400"/>
              </a:spcAft>
              <a:buClr>
                <a:srgbClr val="5a5a5a"/>
              </a:buClr>
              <a:buFont typeface="Symbol" charset="2"/>
              <a:buChar char=""/>
            </a:pPr>
            <a:r>
              <a:rPr lang="de-DE" sz="989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Confidence 0.20, NMS 0.30, IoU 0.50</a:t>
            </a:r>
            <a:endParaRPr lang="de-DE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4709160" y="5468040"/>
            <a:ext cx="41133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e37222"/>
                </a:solidFill>
                <a:effectLst/>
                <a:uFillTx/>
                <a:latin typeface="Arial"/>
                <a:ea typeface="Arial"/>
              </a:rPr>
              <a:t>Validation status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4709160" y="5742360"/>
            <a:ext cx="411336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52280" indent="-88920">
              <a:lnSpc>
                <a:spcPct val="100000"/>
              </a:lnSpc>
              <a:spcAft>
                <a:spcPts val="400"/>
              </a:spcAft>
              <a:buClr>
                <a:srgbClr val="5a5a5a"/>
              </a:buClr>
              <a:buFont typeface="Symbol" charset="2"/>
              <a:buChar char=""/>
            </a:pPr>
            <a:r>
              <a:rPr lang="de-DE" sz="989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ONNX checker passed at opset 11</a:t>
            </a:r>
            <a:endParaRPr lang="de-DE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88920">
              <a:lnSpc>
                <a:spcPct val="100000"/>
              </a:lnSpc>
              <a:spcAft>
                <a:spcPts val="400"/>
              </a:spcAft>
              <a:buClr>
                <a:srgbClr val="5a5a5a"/>
              </a:buClr>
              <a:buFont typeface="Symbol" charset="2"/>
              <a:buChar char=""/>
            </a:pPr>
            <a:r>
              <a:rPr lang="de-DE" sz="989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PyTorch vs. ONNX max error 4.4 × 10⁻⁷</a:t>
            </a:r>
            <a:endParaRPr lang="de-DE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88920">
              <a:lnSpc>
                <a:spcPct val="100000"/>
              </a:lnSpc>
              <a:spcAft>
                <a:spcPts val="400"/>
              </a:spcAft>
              <a:buClr>
                <a:srgbClr val="5a5a5a"/>
              </a:buClr>
              <a:buFont typeface="Symbol" charset="2"/>
              <a:buChar char=""/>
            </a:pPr>
            <a:r>
              <a:rPr lang="de-DE" sz="989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Epoch 22 performed better across robot photo and video domains</a:t>
            </a:r>
            <a:endParaRPr lang="de-DE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311040" y="6473880"/>
            <a:ext cx="6399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  <a:ea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6775560" y="6473880"/>
            <a:ext cx="2046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0" name="图片" descr="chart_phase_time.png"/>
          <p:cNvPicPr/>
          <p:nvPr/>
        </p:nvPicPr>
        <p:blipFill>
          <a:blip r:embed="rId2"/>
          <a:stretch/>
        </p:blipFill>
        <p:spPr>
          <a:xfrm>
            <a:off x="4705560" y="2120400"/>
            <a:ext cx="4114080" cy="200124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401" name="矩形"/>
          <p:cNvSpPr/>
          <p:nvPr/>
        </p:nvSpPr>
        <p:spPr>
          <a:xfrm>
            <a:off x="4709520" y="1847160"/>
            <a:ext cx="4114080" cy="174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1a1a1a"/>
                </a:solidFill>
                <a:effectLst/>
                <a:uFillTx/>
                <a:latin typeface="Arial"/>
                <a:ea typeface="宋体"/>
              </a:rPr>
              <a:t>Base motion per phase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408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Limitations and Challenges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3"/>
          <p:cNvSpPr/>
          <p:nvPr/>
        </p:nvSpPr>
        <p:spPr>
          <a:xfrm>
            <a:off x="320040" y="1463040"/>
            <a:ext cx="8511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Evaluation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4"/>
          <p:cNvSpPr/>
          <p:nvPr/>
        </p:nvSpPr>
        <p:spPr>
          <a:xfrm>
            <a:off x="311040" y="6473880"/>
            <a:ext cx="6399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5"/>
          <p:cNvSpPr/>
          <p:nvPr/>
        </p:nvSpPr>
        <p:spPr>
          <a:xfrm>
            <a:off x="6775560" y="6473880"/>
            <a:ext cx="2046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10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6"/>
          <p:cNvSpPr/>
          <p:nvPr/>
        </p:nvSpPr>
        <p:spPr>
          <a:xfrm>
            <a:off x="320040" y="1847160"/>
            <a:ext cx="2741760" cy="2138400"/>
          </a:xfrm>
          <a:prstGeom prst="roundRect">
            <a:avLst>
              <a:gd name="adj" fmla="val 8000"/>
            </a:avLst>
          </a:prstGeom>
          <a:solidFill>
            <a:srgbClr val="fdf2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07" name="Picture 7" descr="ic_eyeslash.png"/>
          <p:cNvPicPr/>
          <p:nvPr/>
        </p:nvPicPr>
        <p:blipFill>
          <a:blip r:embed="rId1"/>
          <a:stretch/>
        </p:blipFill>
        <p:spPr>
          <a:xfrm>
            <a:off x="502920" y="1993320"/>
            <a:ext cx="291240" cy="29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TextBox 8"/>
          <p:cNvSpPr/>
          <p:nvPr/>
        </p:nvSpPr>
        <p:spPr>
          <a:xfrm>
            <a:off x="502920" y="2359080"/>
            <a:ext cx="23760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Depth excluded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9"/>
          <p:cNvSpPr/>
          <p:nvPr/>
        </p:nvSpPr>
        <p:spPr>
          <a:xfrm>
            <a:off x="502920" y="2706480"/>
            <a:ext cx="237600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0.3 m general scenes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1 m white surfaces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Detector reaches 3 m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10"/>
          <p:cNvSpPr/>
          <p:nvPr/>
        </p:nvSpPr>
        <p:spPr>
          <a:xfrm>
            <a:off x="502920" y="3694320"/>
            <a:ext cx="23760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Removed from control path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ounded Rectangle 11"/>
          <p:cNvSpPr/>
          <p:nvPr/>
        </p:nvSpPr>
        <p:spPr>
          <a:xfrm>
            <a:off x="3209400" y="1847160"/>
            <a:ext cx="2741760" cy="2138400"/>
          </a:xfrm>
          <a:prstGeom prst="roundRect">
            <a:avLst>
              <a:gd name="adj" fmla="val 8000"/>
            </a:avLst>
          </a:prstGeom>
          <a:solidFill>
            <a:srgbClr val="fdf2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12" name="Picture 12" descr="ic_undo.png"/>
          <p:cNvPicPr/>
          <p:nvPr/>
        </p:nvPicPr>
        <p:blipFill>
          <a:blip r:embed="rId2"/>
          <a:stretch/>
        </p:blipFill>
        <p:spPr>
          <a:xfrm>
            <a:off x="3392280" y="1993320"/>
            <a:ext cx="291240" cy="29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TextBox 13"/>
          <p:cNvSpPr/>
          <p:nvPr/>
        </p:nvSpPr>
        <p:spPr>
          <a:xfrm>
            <a:off x="3392280" y="2359080"/>
            <a:ext cx="23760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Pose drifts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14"/>
          <p:cNvSpPr/>
          <p:nvPr/>
        </p:nvSpPr>
        <p:spPr>
          <a:xfrm>
            <a:off x="3392280" y="2706480"/>
            <a:ext cx="237600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Left / right: 1–3 rad/s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Modelled 0.471 / 0.942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Error exceeds model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15"/>
          <p:cNvSpPr/>
          <p:nvPr/>
        </p:nvSpPr>
        <p:spPr>
          <a:xfrm>
            <a:off x="3392280" y="3694320"/>
            <a:ext cx="23760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AprilTag: only anchor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Rounded Rectangle 16"/>
          <p:cNvSpPr/>
          <p:nvPr/>
        </p:nvSpPr>
        <p:spPr>
          <a:xfrm>
            <a:off x="6099120" y="1847160"/>
            <a:ext cx="2741760" cy="2138400"/>
          </a:xfrm>
          <a:prstGeom prst="roundRect">
            <a:avLst>
              <a:gd name="adj" fmla="val 8000"/>
            </a:avLst>
          </a:prstGeom>
          <a:solidFill>
            <a:srgbClr val="fdf2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17" name="Picture 17" descr="ic_ban.png"/>
          <p:cNvPicPr/>
          <p:nvPr/>
        </p:nvPicPr>
        <p:blipFill>
          <a:blip r:embed="rId3"/>
          <a:stretch/>
        </p:blipFill>
        <p:spPr>
          <a:xfrm>
            <a:off x="6282000" y="1993320"/>
            <a:ext cx="291240" cy="29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TextBox 18"/>
          <p:cNvSpPr/>
          <p:nvPr/>
        </p:nvSpPr>
        <p:spPr>
          <a:xfrm>
            <a:off x="6282000" y="2359080"/>
            <a:ext cx="23760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Silent failure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19"/>
          <p:cNvSpPr/>
          <p:nvPr/>
        </p:nvSpPr>
        <p:spPr>
          <a:xfrm>
            <a:off x="6282000" y="2706480"/>
            <a:ext cx="237600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Verification disabled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Pickup always recorded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Empty gripper reports success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20"/>
          <p:cNvSpPr/>
          <p:nvPr/>
        </p:nvSpPr>
        <p:spPr>
          <a:xfrm>
            <a:off x="6282000" y="3694320"/>
            <a:ext cx="23760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First fix: verification flag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21"/>
          <p:cNvSpPr/>
          <p:nvPr/>
        </p:nvSpPr>
        <p:spPr>
          <a:xfrm>
            <a:off x="320040" y="4187880"/>
            <a:ext cx="8511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00" b="1" u="none" strike="noStrike">
                <a:solidFill>
                  <a:srgbClr val="005293"/>
                </a:solidFill>
                <a:effectLst/>
                <a:uFillTx/>
                <a:latin typeface="Arial"/>
              </a:rPr>
              <a:t>Missing capability: relocalisation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22"/>
          <p:cNvSpPr/>
          <p:nvPr/>
        </p:nvSpPr>
        <p:spPr>
          <a:xfrm>
            <a:off x="320040" y="4535280"/>
            <a:ext cx="8511480" cy="576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23"/>
          <p:cNvSpPr/>
          <p:nvPr/>
        </p:nvSpPr>
        <p:spPr>
          <a:xfrm>
            <a:off x="320040" y="4681800"/>
            <a:ext cx="8511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Principal challenges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Rectangle 24"/>
          <p:cNvSpPr/>
          <p:nvPr/>
        </p:nvSpPr>
        <p:spPr>
          <a:xfrm>
            <a:off x="320040" y="507960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25"/>
          <p:cNvSpPr/>
          <p:nvPr/>
        </p:nvSpPr>
        <p:spPr>
          <a:xfrm>
            <a:off x="521280" y="5029200"/>
            <a:ext cx="38390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Open-loop turning unreliable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26"/>
          <p:cNvSpPr/>
          <p:nvPr/>
        </p:nvSpPr>
        <p:spPr>
          <a:xfrm>
            <a:off x="521280" y="5248800"/>
            <a:ext cx="38390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Pulses + visual correction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Rectangle 27"/>
          <p:cNvSpPr/>
          <p:nvPr/>
        </p:nvSpPr>
        <p:spPr>
          <a:xfrm>
            <a:off x="320040" y="555480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28"/>
          <p:cNvSpPr/>
          <p:nvPr/>
        </p:nvSpPr>
        <p:spPr>
          <a:xfrm>
            <a:off x="521280" y="5504760"/>
            <a:ext cx="38390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No gripper feedback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29"/>
          <p:cNvSpPr/>
          <p:nvPr/>
        </p:nvSpPr>
        <p:spPr>
          <a:xfrm>
            <a:off x="521280" y="5724000"/>
            <a:ext cx="38390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Full and empty identical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30"/>
          <p:cNvSpPr/>
          <p:nvPr/>
        </p:nvSpPr>
        <p:spPr>
          <a:xfrm>
            <a:off x="320040" y="603036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31"/>
          <p:cNvSpPr/>
          <p:nvPr/>
        </p:nvSpPr>
        <p:spPr>
          <a:xfrm>
            <a:off x="521280" y="5980320"/>
            <a:ext cx="38390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10–15 fps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32"/>
          <p:cNvSpPr/>
          <p:nvPr/>
        </p:nvSpPr>
        <p:spPr>
          <a:xfrm>
            <a:off x="521280" y="6199560"/>
            <a:ext cx="38390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Pulsed motion, low speeds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Rectangle 33"/>
          <p:cNvSpPr/>
          <p:nvPr/>
        </p:nvSpPr>
        <p:spPr>
          <a:xfrm>
            <a:off x="4572000" y="4992480"/>
            <a:ext cx="5760" cy="14616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34"/>
          <p:cNvSpPr/>
          <p:nvPr/>
        </p:nvSpPr>
        <p:spPr>
          <a:xfrm>
            <a:off x="4827960" y="507960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35"/>
          <p:cNvSpPr/>
          <p:nvPr/>
        </p:nvSpPr>
        <p:spPr>
          <a:xfrm>
            <a:off x="5029200" y="5029200"/>
            <a:ext cx="37933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Model deployment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36"/>
          <p:cNvSpPr/>
          <p:nvPr/>
        </p:nvSpPr>
        <p:spPr>
          <a:xfrm>
            <a:off x="5029200" y="5248800"/>
            <a:ext cx="3793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Accuracy traded for reliability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Rectangle 37"/>
          <p:cNvSpPr/>
          <p:nvPr/>
        </p:nvSpPr>
        <p:spPr>
          <a:xfrm>
            <a:off x="4827960" y="555480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38"/>
          <p:cNvSpPr/>
          <p:nvPr/>
        </p:nvSpPr>
        <p:spPr>
          <a:xfrm>
            <a:off x="5029200" y="5504760"/>
            <a:ext cx="37933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Depth underperformed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39"/>
          <p:cNvSpPr/>
          <p:nvPr/>
        </p:nvSpPr>
        <p:spPr>
          <a:xfrm>
            <a:off x="5029200" y="5724000"/>
            <a:ext cx="3793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Unreliable at useful ranges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40"/>
          <p:cNvSpPr/>
          <p:nvPr/>
        </p:nvSpPr>
        <p:spPr>
          <a:xfrm>
            <a:off x="4827960" y="603036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41"/>
          <p:cNvSpPr/>
          <p:nvPr/>
        </p:nvSpPr>
        <p:spPr>
          <a:xfrm>
            <a:off x="5029200" y="5980320"/>
            <a:ext cx="37933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Grasp timing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42"/>
          <p:cNvSpPr/>
          <p:nvPr/>
        </p:nvSpPr>
        <p:spPr>
          <a:xfrm>
            <a:off x="5029200" y="6199560"/>
            <a:ext cx="3793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Polling beat fixed delay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520" cy="408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Conclusion and Future Work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3"/>
          <p:cNvSpPr/>
          <p:nvPr/>
        </p:nvSpPr>
        <p:spPr>
          <a:xfrm>
            <a:off x="320040" y="1463040"/>
            <a:ext cx="8511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Summary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4"/>
          <p:cNvSpPr/>
          <p:nvPr/>
        </p:nvSpPr>
        <p:spPr>
          <a:xfrm>
            <a:off x="311040" y="6473880"/>
            <a:ext cx="6399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5"/>
          <p:cNvSpPr/>
          <p:nvPr/>
        </p:nvSpPr>
        <p:spPr>
          <a:xfrm>
            <a:off x="6775560" y="6473880"/>
            <a:ext cx="2046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11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6"/>
          <p:cNvSpPr/>
          <p:nvPr/>
        </p:nvSpPr>
        <p:spPr>
          <a:xfrm>
            <a:off x="320040" y="1847160"/>
            <a:ext cx="5073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Summary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7"/>
          <p:cNvSpPr/>
          <p:nvPr/>
        </p:nvSpPr>
        <p:spPr>
          <a:xfrm>
            <a:off x="320040" y="2176200"/>
            <a:ext cx="507348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20000"/>
              </a:lnSpc>
              <a:spcAft>
                <a:spcPts val="601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Mobile manipulator, single camera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20000"/>
              </a:lnSpc>
              <a:spcAft>
                <a:spcPts val="601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Closed on appearance, not geometry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20000"/>
              </a:lnSpc>
              <a:spcAft>
                <a:spcPts val="601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Errors degrade, never break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20000"/>
              </a:lnSpc>
              <a:spcAft>
                <a:spcPts val="601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Drifting map lengthens search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20000"/>
              </a:lnSpc>
              <a:spcAft>
                <a:spcPts val="601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Asymmetric turning needs corrections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10"/>
          <p:cNvSpPr/>
          <p:nvPr/>
        </p:nvSpPr>
        <p:spPr>
          <a:xfrm>
            <a:off x="320040" y="4553640"/>
            <a:ext cx="5073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Next steps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Rectangle 11"/>
          <p:cNvSpPr/>
          <p:nvPr/>
        </p:nvSpPr>
        <p:spPr>
          <a:xfrm>
            <a:off x="320040" y="495144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12"/>
          <p:cNvSpPr/>
          <p:nvPr/>
        </p:nvSpPr>
        <p:spPr>
          <a:xfrm>
            <a:off x="521280" y="4901040"/>
            <a:ext cx="48722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Enable grasp verification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Rectangle 14"/>
          <p:cNvSpPr/>
          <p:nvPr/>
        </p:nvSpPr>
        <p:spPr>
          <a:xfrm>
            <a:off x="315360" y="5394960"/>
            <a:ext cx="67320" cy="14472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15"/>
          <p:cNvSpPr/>
          <p:nvPr/>
        </p:nvSpPr>
        <p:spPr>
          <a:xfrm>
            <a:off x="521280" y="5394960"/>
            <a:ext cx="48722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Calibrate turn constants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Rectangle 17"/>
          <p:cNvSpPr/>
          <p:nvPr/>
        </p:nvSpPr>
        <p:spPr>
          <a:xfrm>
            <a:off x="5577840" y="1847160"/>
            <a:ext cx="5760" cy="434196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18"/>
          <p:cNvSpPr/>
          <p:nvPr/>
        </p:nvSpPr>
        <p:spPr>
          <a:xfrm>
            <a:off x="5833800" y="1847160"/>
            <a:ext cx="298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Sensors worth adding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6" name="Picture 19" descr="ic_send.png"/>
          <p:cNvPicPr/>
          <p:nvPr/>
        </p:nvPicPr>
        <p:blipFill>
          <a:blip r:embed="rId1"/>
          <a:stretch/>
        </p:blipFill>
        <p:spPr>
          <a:xfrm>
            <a:off x="5833800" y="2286000"/>
            <a:ext cx="309600" cy="3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TextBox 20"/>
          <p:cNvSpPr/>
          <p:nvPr/>
        </p:nvSpPr>
        <p:spPr>
          <a:xfrm>
            <a:off x="6254640" y="2267640"/>
            <a:ext cx="25678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Forward distance sensor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21"/>
          <p:cNvSpPr/>
          <p:nvPr/>
        </p:nvSpPr>
        <p:spPr>
          <a:xfrm>
            <a:off x="6254640" y="2523600"/>
            <a:ext cx="25678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First metric measurement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9" name="Picture 22" descr="ic_wrench.png"/>
          <p:cNvPicPr/>
          <p:nvPr/>
        </p:nvPicPr>
        <p:blipFill>
          <a:blip r:embed="rId2"/>
          <a:stretch/>
        </p:blipFill>
        <p:spPr>
          <a:xfrm>
            <a:off x="5833800" y="3255120"/>
            <a:ext cx="309600" cy="3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TextBox 23"/>
          <p:cNvSpPr/>
          <p:nvPr/>
        </p:nvSpPr>
        <p:spPr>
          <a:xfrm>
            <a:off x="6254640" y="3237120"/>
            <a:ext cx="25678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Gripper force sensing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24"/>
          <p:cNvSpPr/>
          <p:nvPr/>
        </p:nvSpPr>
        <p:spPr>
          <a:xfrm>
            <a:off x="6254640" y="3493080"/>
            <a:ext cx="25678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Fixes empty gripper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2" name="Picture 25" descr="ic_sync.png"/>
          <p:cNvPicPr/>
          <p:nvPr/>
        </p:nvPicPr>
        <p:blipFill>
          <a:blip r:embed="rId3"/>
          <a:stretch/>
        </p:blipFill>
        <p:spPr>
          <a:xfrm>
            <a:off x="5833800" y="4224600"/>
            <a:ext cx="309600" cy="3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TextBox 26"/>
          <p:cNvSpPr/>
          <p:nvPr/>
        </p:nvSpPr>
        <p:spPr>
          <a:xfrm>
            <a:off x="6254640" y="4206240"/>
            <a:ext cx="25678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Wheel odometry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27"/>
          <p:cNvSpPr/>
          <p:nvPr/>
        </p:nvSpPr>
        <p:spPr>
          <a:xfrm>
            <a:off x="6254640" y="4462200"/>
            <a:ext cx="25678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Map becomes measurement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5" name="Picture 28" descr="ic_tag.png"/>
          <p:cNvPicPr/>
          <p:nvPr/>
        </p:nvPicPr>
        <p:blipFill>
          <a:blip r:embed="rId4"/>
          <a:stretch/>
        </p:blipFill>
        <p:spPr>
          <a:xfrm>
            <a:off x="5833800" y="5193720"/>
            <a:ext cx="309600" cy="30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TextBox 29"/>
          <p:cNvSpPr/>
          <p:nvPr/>
        </p:nvSpPr>
        <p:spPr>
          <a:xfrm>
            <a:off x="6254640" y="5175360"/>
            <a:ext cx="25678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More room tags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30"/>
          <p:cNvSpPr/>
          <p:nvPr/>
        </p:nvSpPr>
        <p:spPr>
          <a:xfrm>
            <a:off x="6254640" y="5431680"/>
            <a:ext cx="25678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Cheap relocalisation anchors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60104_TUM_Praesentation_p_v1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itel 2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itel 3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halt">
  <a:themeElements>
    <a:clrScheme name="TUM">
      <a:dk1>
        <a:srgbClr val="000000"/>
      </a:dk1>
      <a:lt1>
        <a:srgbClr val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Kapiteltrenner blau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Kapiteltrenner schwarz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LibreOffice/25.8.7.1$Windows_X86_64 LibreOffice_project/39c3b7ac021cfb9f4ca681457ad36828f90e2ce7</Application>
  <AppVersion>15.0000</AppVersion>
  <Words>3665</Words>
  <Paragraphs>496</Paragraphs>
  <Company>TUM ZIT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2021-10-05T07:49:29Z</dcterms:created>
  <dc:creator>Bothe, Sonja</dc:creator>
  <dc:description/>
  <dc:language>zh-CN</dc:language>
  <cp:lastModifiedBy/>
  <cp:lastPrinted>2015-07-30T14:04:45Z</cp:lastPrinted>
  <dcterms:modified xsi:type="dcterms:W3CDTF">2026-09-09T12:56:11Z</dcterms:modified>
  <cp:revision>30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11</vt:i4>
  </property>
  <property fmtid="{D5CDD505-2E9C-101B-9397-08002B2CF9AE}" pid="4" name="PresentationFormat">
    <vt:lpwstr>全屏显示(4:3)</vt:lpwstr>
  </property>
  <property fmtid="{D5CDD505-2E9C-101B-9397-08002B2CF9AE}" pid="5" name="Slides">
    <vt:i4>13</vt:i4>
  </property>
</Properties>
</file>