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20"/>
  </p:notesMasterIdLst>
  <p:handoutMasterIdLst>
    <p:handoutMasterId r:id="rId21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8" r:id="rId14"/>
    <p:sldId id="263" r:id="rId15"/>
    <p:sldId id="267" r:id="rId16"/>
    <p:sldId id="264" r:id="rId17"/>
    <p:sldId id="265" r:id="rId18"/>
    <p:sldId id="266" r:id="rId19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8272" autoAdjust="0"/>
  </p:normalViewPr>
  <p:slideViewPr>
    <p:cSldViewPr snapToGrid="0">
      <p:cViewPr varScale="1">
        <p:scale>
          <a:sx n="111" d="100"/>
          <a:sy n="111" d="100"/>
        </p:scale>
        <p:origin x="165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09/09/2026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09/09/2026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0:40]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Good morning, and thank you for coming. We are the S.P.A.S. team, and our</a:t>
            </a:r>
          </a:p>
          <a:p>
            <a:r>
              <a:rPr sz="1200">
                <a:latin typeface="Arial"/>
              </a:rPr>
              <a:t>project is the Self-Propelled Arm System.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It is a small tracked robot with a robotic arm on top. Its job is to find drink</a:t>
            </a:r>
          </a:p>
          <a:p>
            <a:r>
              <a:rPr sz="1200">
                <a:latin typeface="Arial"/>
              </a:rPr>
              <a:t>cans on the floor of an indoor room, pick them up, and drop them into a</a:t>
            </a:r>
          </a:p>
          <a:p>
            <a:r>
              <a:rPr sz="1200">
                <a:latin typeface="Arial"/>
              </a:rPr>
              <a:t>collection bin.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interesting part of the project is the constraint we worked under. The robot</a:t>
            </a:r>
          </a:p>
          <a:p>
            <a:r>
              <a:rPr sz="1200">
                <a:latin typeface="Arial"/>
              </a:rPr>
              <a:t>has one camera and no other sensor. Everything you will see today is decided</a:t>
            </a:r>
          </a:p>
          <a:p>
            <a:r>
              <a:rPr sz="1200">
                <a:latin typeface="Arial"/>
              </a:rPr>
              <a:t>from that single image.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I will start with a short overview, and then my colleagues will take you through</a:t>
            </a:r>
          </a:p>
          <a:p>
            <a:r>
              <a:rPr sz="1200">
                <a:latin typeface="Arial"/>
              </a:rPr>
              <a:t>the system and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1:10]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Here is the system in three lines.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First, it is an autonomous can collection robot: a tracked indoor platform with a</a:t>
            </a:r>
          </a:p>
          <a:p>
            <a:r>
              <a:rPr sz="1200">
                <a:latin typeface="Arial"/>
              </a:rPr>
              <a:t>four link arm and a parallel gripper.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Second, and this is the important one, a single RGB camera is the only sensor.</a:t>
            </a:r>
          </a:p>
          <a:p>
            <a:r>
              <a:rPr sz="1200">
                <a:latin typeface="Arial"/>
              </a:rPr>
              <a:t>There is no depth sensor, no range finder, no wheel encoders, and no force</a:t>
            </a:r>
          </a:p>
          <a:p>
            <a:r>
              <a:rPr sz="1200">
                <a:latin typeface="Arial"/>
              </a:rPr>
              <a:t>sensing in the gripper.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Third, because of that, vision is in the loop at every stage. Search, approach,</a:t>
            </a:r>
          </a:p>
          <a:p>
            <a:r>
              <a:rPr sz="1200">
                <a:latin typeface="Arial"/>
              </a:rPr>
              <a:t>grasp and delivery are all decided from the image.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photograph on the left shows the environment we work in: drink cans standing</a:t>
            </a:r>
          </a:p>
          <a:p>
            <a:r>
              <a:rPr sz="1200">
                <a:latin typeface="Arial"/>
              </a:rPr>
              <a:t>on the floor, and a bin marked with an AprilTag.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outline on the right is how we will proceed. We start with the problem and</a:t>
            </a:r>
          </a:p>
          <a:p>
            <a:r>
              <a:rPr sz="1200">
                <a:latin typeface="Arial"/>
              </a:rPr>
              <a:t>the platform, then the architecture and the control logic, then perception and a</a:t>
            </a:r>
          </a:p>
          <a:p>
            <a:r>
              <a:rPr sz="1200">
                <a:latin typeface="Arial"/>
              </a:rPr>
              <a:t>complete run on hardware, then the measured results, and we close with the</a:t>
            </a:r>
          </a:p>
          <a:p>
            <a:r>
              <a:rPr sz="1200">
                <a:latin typeface="Arial"/>
              </a:rPr>
              <a:t>limitations and the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1:20]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First, why this task.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Drink cans accumulate in indoor public spaces, and collecting them is</a:t>
            </a:r>
          </a:p>
          <a:p>
            <a:r>
              <a:rPr sz="1200">
                <a:latin typeface="Arial"/>
              </a:rPr>
              <a:t>repetitive, low risk manual work. For us it was a good project task because it</a:t>
            </a:r>
          </a:p>
          <a:p>
            <a:r>
              <a:rPr sz="1200">
                <a:latin typeface="Arial"/>
              </a:rPr>
              <a:t>combines everything at once: perception, navigation, decision making and</a:t>
            </a:r>
          </a:p>
          <a:p>
            <a:r>
              <a:rPr sz="1200">
                <a:latin typeface="Arial"/>
              </a:rPr>
              <a:t>manipulation.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mission breaks into four stages, shown on the left.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In detection, the robot rotates in place until the detector accepts a target.</a:t>
            </a:r>
          </a:p>
          <a:p>
            <a:r>
              <a:rPr sz="1200">
                <a:latin typeface="Arial"/>
              </a:rPr>
              <a:t>In approach, it steers on the image error and stops when the target looks large</a:t>
            </a:r>
          </a:p>
          <a:p>
            <a:r>
              <a:rPr sz="1200">
                <a:latin typeface="Arial"/>
              </a:rPr>
              <a:t>enough. In grasp, it lowers the arm, pushes, closes and lifts. In delivery, it</a:t>
            </a:r>
          </a:p>
          <a:p>
            <a:r>
              <a:rPr sz="1200">
                <a:latin typeface="Arial"/>
              </a:rPr>
              <a:t>docks on the AprilTag and releases the can above the bin.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On the right is the hardware we had to do this with. One RGB camera, 320 by 240</a:t>
            </a:r>
          </a:p>
          <a:p>
            <a:r>
              <a:rPr sz="1200">
                <a:latin typeface="Arial"/>
              </a:rPr>
              <a:t>pixels, with a 60 degree field of view. No depth sensing, no stereo pair, no</a:t>
            </a:r>
          </a:p>
          <a:p>
            <a:r>
              <a:rPr sz="1200">
                <a:latin typeface="Arial"/>
              </a:rPr>
              <a:t>range finder. No wheel encoders, so the base returns no motion feedback at all.</a:t>
            </a:r>
          </a:p>
          <a:p>
            <a:r>
              <a:rPr sz="1200">
                <a:latin typeface="Arial"/>
              </a:rPr>
              <a:t>And no force sensing, so the gripper cannot detect contact.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consequence is at the bottom right, and it is the sentence that shapes the</a:t>
            </a:r>
          </a:p>
          <a:p>
            <a:r>
              <a:rPr sz="1200">
                <a:latin typeface="Arial"/>
              </a:rPr>
              <a:t>whole system: the base is an open loop actuator. We command it to move, and the</a:t>
            </a:r>
          </a:p>
          <a:p>
            <a:r>
              <a:rPr sz="1200">
                <a:latin typeface="Arial"/>
              </a:rPr>
              <a:t>only way to confirm that it moved is to look at the next camera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1:15]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This is the hardware architecture.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In the middle is the Jetson Nano with four gigabytes of shared memory. It runs</a:t>
            </a:r>
          </a:p>
          <a:p>
            <a:r>
              <a:rPr sz="1200">
                <a:latin typeface="Arial"/>
              </a:rPr>
              <a:t>everything on board. There is no external computer and no remote control.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Three subsystems are connected to it. On the left, the CSI camera delivers 320 by</a:t>
            </a:r>
          </a:p>
          <a:p>
            <a:r>
              <a:rPr sz="1200">
                <a:latin typeface="Arial"/>
              </a:rPr>
              <a:t>240 frames over CSI-2. On the right, two track motors are driven with PWM through</a:t>
            </a:r>
          </a:p>
          <a:p>
            <a:r>
              <a:rPr sz="1200">
                <a:latin typeface="Arial"/>
              </a:rPr>
              <a:t>a motor driver, and they report nothing back. Below them, five bus servos are</a:t>
            </a:r>
          </a:p>
          <a:p>
            <a:r>
              <a:rPr sz="1200">
                <a:latin typeface="Arial"/>
              </a:rPr>
              <a:t>connected in one TTL serial chain, and these are the only devices in the system</a:t>
            </a:r>
          </a:p>
          <a:p>
            <a:r>
              <a:rPr sz="1200">
                <a:latin typeface="Arial"/>
              </a:rPr>
              <a:t>whose position we can read. Servo four closes the gripper.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dashed lines are the power rail, from the battery to the drive and to the</a:t>
            </a:r>
          </a:p>
          <a:p>
            <a:r>
              <a:rPr sz="1200">
                <a:latin typeface="Arial"/>
              </a:rPr>
              <a:t>computer.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At the bottom is the software stack, in four layers. The mission layer is our</a:t>
            </a:r>
          </a:p>
          <a:p>
            <a:r>
              <a:rPr sz="1200">
                <a:latin typeface="Arial"/>
              </a:rPr>
              <a:t>demo_core state machine with sixteen states. The perception layer uses detectNet,</a:t>
            </a:r>
          </a:p>
          <a:p>
            <a:r>
              <a:rPr sz="1200">
                <a:latin typeface="Arial"/>
              </a:rPr>
              <a:t>the pupil_apriltags library and OpenCV. The hardware layer wraps the jetbot Robot</a:t>
            </a:r>
          </a:p>
          <a:p>
            <a:r>
              <a:rPr sz="1200">
                <a:latin typeface="Arial"/>
              </a:rPr>
              <a:t>and Camera classes and the TTLServo driver. And all tuning constants live in two</a:t>
            </a:r>
          </a:p>
          <a:p>
            <a:r>
              <a:rPr sz="1200">
                <a:latin typeface="Arial"/>
              </a:rPr>
              <a:t>JSON configuration files, so no threshold is hard coded in the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1:45]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mission logic is an explicit finite state machine, sixteen states in total.</a:t>
            </a:r>
          </a:p>
          <a:p>
            <a:r>
              <a:rPr sz="1200">
                <a:latin typeface="Arial"/>
              </a:rPr>
              <a:t>The graph on the left is the design level view. The guards on the transitions are</a:t>
            </a:r>
          </a:p>
          <a:p>
            <a:r>
              <a:rPr sz="1200">
                <a:latin typeface="Arial"/>
              </a:rPr>
              <a:t>fields of a single shared context object, so every state reads the same picture</a:t>
            </a:r>
          </a:p>
          <a:p>
            <a:r>
              <a:rPr sz="1200">
                <a:latin typeface="Arial"/>
              </a:rPr>
              <a:t>of the world.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On the right are the four states that are driven by vision.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In searching, the robot rotates until a target is accepted or the timeout</a:t>
            </a:r>
          </a:p>
          <a:p>
            <a:r>
              <a:rPr sz="1200">
                <a:latin typeface="Arial"/>
              </a:rPr>
              <a:t>expires. In aligning, it turns until the target is within tolerance, and it</a:t>
            </a:r>
          </a:p>
          <a:p>
            <a:r>
              <a:rPr sz="1200">
                <a:latin typeface="Arial"/>
              </a:rPr>
              <a:t>aborts if the target is lost. In approaching, it steers or drives forward and</a:t>
            </a:r>
          </a:p>
          <a:p>
            <a:r>
              <a:rPr sz="1200">
                <a:latin typeface="Arial"/>
              </a:rPr>
              <a:t>stops on apparent size. Final verification repeats the check with a tighter</a:t>
            </a:r>
          </a:p>
          <a:p>
            <a:r>
              <a:rPr sz="1200">
                <a:latin typeface="Arial"/>
              </a:rPr>
              <a:t>tolerance over several consecutive frames, so a single lucky frame cannot trigger</a:t>
            </a:r>
          </a:p>
          <a:p>
            <a:r>
              <a:rPr sz="1200">
                <a:latin typeface="Arial"/>
              </a:rPr>
              <a:t>a grasp.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formula below is the whole control input. e_x is the horizontal position of</a:t>
            </a:r>
          </a:p>
          <a:p>
            <a:r>
              <a:rPr sz="1200">
                <a:latin typeface="Arial"/>
              </a:rPr>
              <a:t>the target centre, minus half the image width, divided by the image width. It</a:t>
            </a:r>
          </a:p>
          <a:p>
            <a:r>
              <a:rPr sz="1200">
                <a:latin typeface="Arial"/>
              </a:rPr>
              <a:t>ranges from minus zero point five to plus zero point five, negative to the left of</a:t>
            </a:r>
          </a:p>
          <a:p>
            <a:r>
              <a:rPr sz="1200">
                <a:latin typeface="Arial"/>
              </a:rPr>
              <a:t>centre. We steer to drive that error to zero.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Distance is handled the same way. We do not estimate range. We stop when the</a:t>
            </a:r>
          </a:p>
          <a:p>
            <a:r>
              <a:rPr sz="1200">
                <a:latin typeface="Arial"/>
              </a:rPr>
              <a:t>detection box reaches 0.36 of the image height for a can, or 0.15 for the tag.</a:t>
            </a:r>
          </a:p>
          <a:p>
            <a:r>
              <a:rPr sz="1200">
                <a:latin typeface="Arial"/>
              </a:rPr>
              <a:t>Apparent size replaces a distance measurement.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Two design decisions at the bottom. Transitions are held in an explicit table, so</a:t>
            </a:r>
          </a:p>
          <a:p>
            <a:r>
              <a:rPr sz="1200">
                <a:latin typeface="Arial"/>
              </a:rPr>
              <a:t>an undeclared state and event pair raises an error instead of failing silently.</a:t>
            </a:r>
          </a:p>
          <a:p>
            <a:r>
              <a:rPr sz="1200">
                <a:latin typeface="Arial"/>
              </a:rPr>
              <a:t>And finalising requires a stable target, which map based navigation never</a:t>
            </a:r>
          </a:p>
          <a:p>
            <a:r>
              <a:rPr sz="1200">
                <a:latin typeface="Arial"/>
              </a:rPr>
              <a:t>provides, so dead reckoning alone can never trigger a grasp.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1:35]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Now the grasp itself.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There is no inverse kinematics here. The arm moves between fixed, pre-defined</a:t>
            </a:r>
          </a:p>
          <a:p>
            <a:r>
              <a:rPr sz="1200">
                <a:latin typeface="Arial"/>
              </a:rPr>
              <a:t>poses, and the base drives the can into the open gripper.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sequence at the top has six steps. Two seconds of settling. Lower the arm to</a:t>
            </a:r>
          </a:p>
          <a:p>
            <a:r>
              <a:rPr sz="1200">
                <a:latin typeface="Arial"/>
              </a:rPr>
              <a:t>the down pose, polling the servos. Push forward slowly, which is the step</a:t>
            </a:r>
          </a:p>
          <a:p>
            <a:r>
              <a:rPr sz="1200">
                <a:latin typeface="Arial"/>
              </a:rPr>
              <a:t>highlighted in blue. Hold the arm locked for five seconds. Close to the grab</a:t>
            </a:r>
          </a:p>
          <a:p>
            <a:r>
              <a:rPr sz="1200">
                <a:latin typeface="Arial"/>
              </a:rPr>
              <a:t>pose. Lift to the carry pose.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four frames below are recorded on board during a real pickup: verification,</a:t>
            </a:r>
          </a:p>
          <a:p>
            <a:r>
              <a:rPr sz="1200">
                <a:latin typeface="Arial"/>
              </a:rPr>
              <a:t>push, closing, and carry.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Why push instead of simply closing the gripper on the can? The arm is short and</a:t>
            </a:r>
          </a:p>
          <a:p>
            <a:r>
              <a:rPr sz="1200">
                <a:latin typeface="Arial"/>
              </a:rPr>
              <a:t>the gripper closes imprecisely, but the base moves reliably over short distances.</a:t>
            </a:r>
          </a:p>
          <a:p>
            <a:r>
              <a:rPr sz="1200">
                <a:latin typeface="Arial"/>
              </a:rPr>
              <a:t>So we lower the open gripper to the floor and drive the can into it. We trade</a:t>
            </a:r>
          </a:p>
          <a:p>
            <a:r>
              <a:rPr sz="1200">
                <a:latin typeface="Arial"/>
              </a:rPr>
              <a:t>fine manipulation, which our hardware is bad at, for coarse base motion, which it</a:t>
            </a:r>
          </a:p>
          <a:p>
            <a:r>
              <a:rPr sz="1200">
                <a:latin typeface="Arial"/>
              </a:rPr>
              <a:t>does well.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block below is the one place in the whole system with real feedback. Servo</a:t>
            </a:r>
          </a:p>
          <a:p>
            <a:r>
              <a:rPr sz="1200">
                <a:latin typeface="Arial"/>
              </a:rPr>
              <a:t>positions are polled until the readings stop changing, instead of waiting a fixed</a:t>
            </a:r>
          </a:p>
          <a:p>
            <a:r>
              <a:rPr sz="1200">
                <a:latin typeface="Arial"/>
              </a:rPr>
              <a:t>delay. If the arm has not settled, the push is blocked outright. In the archived</a:t>
            </a:r>
          </a:p>
          <a:p>
            <a:r>
              <a:rPr sz="1200">
                <a:latin typeface="Arial"/>
              </a:rPr>
              <a:t>run this took 4.94 seconds of settling, 7 seconds of pushing and 5 seconds of</a:t>
            </a:r>
          </a:p>
          <a:p>
            <a:r>
              <a:rPr sz="1200">
                <a:latin typeface="Arial"/>
              </a:rPr>
              <a:t>holding.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limitation is honest and it is on the slide: this only works for light</a:t>
            </a:r>
          </a:p>
          <a:p>
            <a:r>
              <a:rPr sz="1200">
                <a:latin typeface="Arial"/>
              </a:rPr>
              <a:t>objects on a low friction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1:05]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This is the experimental setup and one complete reference run.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On the left, the platform holding a grasped can. In the middle, the arena: a 250</a:t>
            </a:r>
          </a:p>
          <a:p>
            <a:r>
              <a:rPr sz="1200">
                <a:latin typeface="Arial"/>
              </a:rPr>
              <a:t>millilitre can and the bin with the AprilTag. On the right, the end of the run,</a:t>
            </a:r>
          </a:p>
          <a:p>
            <a:r>
              <a:rPr sz="1200">
                <a:latin typeface="Arial"/>
              </a:rPr>
              <a:t>with the can held above the bin.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numbers below describe that run. It took 73.8 seconds from the start of the</a:t>
            </a:r>
          </a:p>
          <a:p>
            <a:r>
              <a:rPr sz="1200">
                <a:latin typeface="Arial"/>
              </a:rPr>
              <a:t>search to the release over the bin. One camera, with no depth sensor, no range</a:t>
            </a:r>
          </a:p>
          <a:p>
            <a:r>
              <a:rPr sz="1200">
                <a:latin typeface="Arial"/>
              </a:rPr>
              <a:t>finder and no encoders. 98 can detections during the run, and 41 successful tag</a:t>
            </a:r>
          </a:p>
          <a:p>
            <a:r>
              <a:rPr sz="1200">
                <a:latin typeface="Arial"/>
              </a:rPr>
              <a:t>reads out of 59 attempts.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So search, grasp, transport and release were all completed on real hardware using</a:t>
            </a:r>
          </a:p>
          <a:p>
            <a:r>
              <a:rPr sz="1200">
                <a:latin typeface="Arial"/>
              </a:rPr>
              <a:t>the camera alone. And this is not an assumption on our side: the on-board overlay</a:t>
            </a:r>
          </a:p>
          <a:p>
            <a:r>
              <a:rPr sz="1200">
                <a:latin typeface="Arial"/>
              </a:rPr>
              <a:t>records DEPTH equals NO on every single frame of that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1:20]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Perception is two detectors, and between them they produce every measurement the</a:t>
            </a:r>
          </a:p>
          <a:p>
            <a:r>
              <a:rPr sz="1200">
                <a:latin typeface="Arial"/>
              </a:rPr>
              <a:t>controller uses.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On the left is the object detector, SSD-MobileNet-V1 at 300 by 300 input</a:t>
            </a:r>
          </a:p>
          <a:p>
            <a:r>
              <a:rPr sz="1200">
                <a:latin typeface="Arial"/>
              </a:rPr>
              <a:t>resolution, with the confidence score.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In the middle is the same detector running inside the mission, with our overlay</a:t>
            </a:r>
          </a:p>
          <a:p>
            <a:r>
              <a:rPr sz="1200">
                <a:latin typeface="Arial"/>
              </a:rPr>
              <a:t>on top. You can read the two values the controller actually consumes: a</a:t>
            </a:r>
          </a:p>
          <a:p>
            <a:r>
              <a:rPr sz="1200">
                <a:latin typeface="Arial"/>
              </a:rPr>
              <a:t>horizontal error of minus 0.119, so the can is slightly left of centre, and a box</a:t>
            </a:r>
          </a:p>
          <a:p>
            <a:r>
              <a:rPr sz="1200">
                <a:latin typeface="Arial"/>
              </a:rPr>
              <a:t>height of 0.255, which is still below the 0.36 stopping threshold. So at this</a:t>
            </a:r>
          </a:p>
          <a:p>
            <a:r>
              <a:rPr sz="1200">
                <a:latin typeface="Arial"/>
              </a:rPr>
              <a:t>moment the robot keeps approaching.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On the right is the AprilTag detector during docking at the bin. Family tag36h11,</a:t>
            </a:r>
          </a:p>
          <a:p>
            <a:r>
              <a:rPr sz="1200">
                <a:latin typeface="Arial"/>
              </a:rPr>
              <a:t>identifier zero. The tag height is 0.186 against a threshold of 0.15, and the</a:t>
            </a:r>
          </a:p>
          <a:p>
            <a:r>
              <a:rPr sz="1200">
                <a:latin typeface="Arial"/>
              </a:rPr>
              <a:t>error is minus 0.055.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One point worth making explicitly: we never calibrated the camera, and we do not</a:t>
            </a:r>
          </a:p>
          <a:p>
            <a:r>
              <a:rPr sz="1200">
                <a:latin typeface="Arial"/>
              </a:rPr>
              <a:t>need to. Tag height, edge ratio and corner angle are all ratios measured in the</a:t>
            </a:r>
          </a:p>
          <a:p>
            <a:r>
              <a:rPr sz="1200">
                <a:latin typeface="Arial"/>
              </a:rPr>
              <a:t>image, so the focal length cancels out. The AprilTag library can also give a</a:t>
            </a:r>
          </a:p>
          <a:p>
            <a:r>
              <a:rPr sz="1200">
                <a:latin typeface="Arial"/>
              </a:rPr>
              <a:t>metric pose through perspective-n-point, but we deliberately do not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1:35]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Now the measurements.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left chart is detector accuracy as F1 score. The two bars per group compare</a:t>
            </a:r>
          </a:p>
          <a:p>
            <a:r>
              <a:rPr sz="1200">
                <a:latin typeface="Arial"/>
              </a:rPr>
              <a:t>the model we deployed against the stronger custom model. On photographs we lose</a:t>
            </a:r>
          </a:p>
          <a:p>
            <a:r>
              <a:rPr sz="1200">
                <a:latin typeface="Arial"/>
              </a:rPr>
              <a:t>about six F1 points, and on video about two.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We accepted that, and the reason is below the chart. The deployed model removes a</a:t>
            </a:r>
          </a:p>
          <a:p>
            <a:r>
              <a:rPr sz="1200">
                <a:latin typeface="Arial"/>
              </a:rPr>
              <a:t>custom post-processing layer and a custom inference backend, and it uses the</a:t>
            </a:r>
          </a:p>
          <a:p>
            <a:r>
              <a:rPr sz="1200">
                <a:latin typeface="Arial"/>
              </a:rPr>
              <a:t>inference path that NVIDIA supports natively on the Nano. We traded a small</a:t>
            </a:r>
          </a:p>
          <a:p>
            <a:r>
              <a:rPr sz="1200">
                <a:latin typeface="Arial"/>
              </a:rPr>
              <a:t>amount of accuracy for a deployment that works reliably on the device we have.</a:t>
            </a:r>
          </a:p>
          <a:p>
            <a:r>
              <a:rPr sz="1200">
                <a:latin typeface="Arial"/>
              </a:rPr>
              <a:t>The conversion itself is lossless in practice: the difference between the PyTorch</a:t>
            </a:r>
          </a:p>
          <a:p>
            <a:r>
              <a:rPr sz="1200">
                <a:latin typeface="Arial"/>
              </a:rPr>
              <a:t>model and the exported ONNX model is 4.4 times ten to the minus seven.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right chart is where the time goes in the 73.8 second run. Only 31.2 seconds,</a:t>
            </a:r>
          </a:p>
          <a:p>
            <a:r>
              <a:rPr sz="1200">
                <a:latin typeface="Arial"/>
              </a:rPr>
              <a:t>about 42 percent, is commanded base motion. Another 11.9 seconds are deliberate</a:t>
            </a:r>
          </a:p>
          <a:p>
            <a:r>
              <a:rPr sz="1200">
                <a:latin typeface="Arial"/>
              </a:rPr>
              <a:t>holds, the settling and locking we saw in the grasp sequence. The rest is</a:t>
            </a:r>
          </a:p>
          <a:p>
            <a:r>
              <a:rPr sz="1200">
                <a:latin typeface="Arial"/>
              </a:rPr>
              <a:t>perception and decision time.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One caveat, and we state it on the slide rather than hiding it. That run was</a:t>
            </a:r>
          </a:p>
          <a:p>
            <a:r>
              <a:rPr sz="1200">
                <a:latin typeface="Arial"/>
              </a:rPr>
              <a:t>recorded by the earlier prototype, with the legacy parameter set and the custom</a:t>
            </a:r>
          </a:p>
          <a:p>
            <a:r>
              <a:rPr sz="1200">
                <a:latin typeface="Arial"/>
              </a:rPr>
              <a:t>TensorRT detector. Its stop thresholds were 0.400 and 0.500, not the 0.36 and</a:t>
            </a:r>
          </a:p>
          <a:p>
            <a:r>
              <a:rPr sz="1200">
                <a:latin typeface="Arial"/>
              </a:rPr>
              <a:t>0.15 we use today. The counts and the timings are exact, but the thresholds do</a:t>
            </a:r>
          </a:p>
          <a:p>
            <a:r>
              <a:rPr sz="1200">
                <a:latin typeface="Arial"/>
              </a:rPr>
              <a:t>not match the current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1:35]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We want to be clear about what does not work.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First, depth estimation. We tested a depth network, and it was reliable to about</a:t>
            </a:r>
          </a:p>
          <a:p>
            <a:r>
              <a:rPr sz="1200">
                <a:latin typeface="Arial"/>
              </a:rPr>
              <a:t>0.3 metres in a general scene, and to about one metre only on clean white</a:t>
            </a:r>
          </a:p>
          <a:p>
            <a:r>
              <a:rPr sz="1200">
                <a:latin typeface="Arial"/>
              </a:rPr>
              <a:t>surfaces. Our can detector already works out to three metres, so the depth</a:t>
            </a:r>
          </a:p>
          <a:p>
            <a:r>
              <a:rPr sz="1200">
                <a:latin typeface="Arial"/>
              </a:rPr>
              <a:t>estimate was worse than the detector it was supposed to help. We removed it from</a:t>
            </a:r>
          </a:p>
          <a:p>
            <a:r>
              <a:rPr sz="1200">
                <a:latin typeface="Arial"/>
              </a:rPr>
              <a:t>the control path completely.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Second, the pose estimate drifts. The two tracks turn at different rates,</a:t>
            </a:r>
          </a:p>
          <a:p>
            <a:r>
              <a:rPr sz="1200">
                <a:latin typeface="Arial"/>
              </a:rPr>
              <a:t>somewhere between one and three radians per second, while our model assumes fixed</a:t>
            </a:r>
          </a:p>
          <a:p>
            <a:r>
              <a:rPr sz="1200">
                <a:latin typeface="Arial"/>
              </a:rPr>
              <a:t>values of 0.471 and 0.942. The error is larger than the quantity we are</a:t>
            </a:r>
          </a:p>
          <a:p>
            <a:r>
              <a:rPr sz="1200">
                <a:latin typeface="Arial"/>
              </a:rPr>
              <a:t>modelling, so dead reckoning is not trustworthy. The AprilTag on the bin is the</a:t>
            </a:r>
          </a:p>
          <a:p>
            <a:r>
              <a:rPr sz="1200">
                <a:latin typeface="Arial"/>
              </a:rPr>
              <a:t>only absolute anchor the robot has.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Third, and this is the failure that worries us most, one failure mode is silent.</a:t>
            </a:r>
          </a:p>
          <a:p>
            <a:r>
              <a:rPr sz="1200">
                <a:latin typeface="Arial"/>
              </a:rPr>
              <a:t>Grasp verification is currently disabled, so a pickup is recorded whether or not</a:t>
            </a:r>
          </a:p>
          <a:p>
            <a:r>
              <a:rPr sz="1200">
                <a:latin typeface="Arial"/>
              </a:rPr>
              <a:t>the can is actually in the gripper. The robot can report success with an empty</a:t>
            </a:r>
          </a:p>
          <a:p>
            <a:r>
              <a:rPr sz="1200">
                <a:latin typeface="Arial"/>
              </a:rPr>
              <a:t>gripper. Enabling that verification flag is the first fix on our list.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Taken together, the missing capability is relocalisation. The map can direct the</a:t>
            </a:r>
          </a:p>
          <a:p>
            <a:r>
              <a:rPr sz="1200">
                <a:latin typeface="Arial"/>
              </a:rPr>
              <a:t>robot's attention, but it can never trigger an action on its own.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challenges at the bottom are the practical ones. Open loop turning was</a:t>
            </a:r>
          </a:p>
          <a:p>
            <a:r>
              <a:rPr sz="1200">
                <a:latin typeface="Arial"/>
              </a:rPr>
              <a:t>unreliable, so we replaced it with short pulses and visual correction. The</a:t>
            </a:r>
          </a:p>
          <a:p>
            <a:r>
              <a:rPr sz="1200">
                <a:latin typeface="Arial"/>
              </a:rPr>
              <a:t>gripper gives no feedback, so full and empty look identical. We only get 10 to 15</a:t>
            </a:r>
          </a:p>
          <a:p>
            <a:r>
              <a:rPr sz="1200">
                <a:latin typeface="Arial"/>
              </a:rPr>
              <a:t>frames per second, so motion is pulsed and speeds are kept low. Deployment cost</a:t>
            </a:r>
          </a:p>
          <a:p>
            <a:r>
              <a:rPr sz="1200">
                <a:latin typeface="Arial"/>
              </a:rPr>
              <a:t>us accuracy but bought reliability. Depth underperformed. And timing the grasp</a:t>
            </a:r>
          </a:p>
          <a:p>
            <a:r>
              <a:rPr sz="1200">
                <a:latin typeface="Arial"/>
              </a:rPr>
              <a:t>needed real feedback, because a fixed delay simply did not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1:10]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To summarise.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We built an indoor mobile manipulator that operates on a single camera. Its</a:t>
            </a:r>
          </a:p>
          <a:p>
            <a:r>
              <a:rPr sz="1200">
                <a:latin typeface="Arial"/>
              </a:rPr>
              <a:t>control loops are closed on how the target appears in the image, rather than on</a:t>
            </a:r>
          </a:p>
          <a:p>
            <a:r>
              <a:rPr sz="1200">
                <a:latin typeface="Arial"/>
              </a:rPr>
              <a:t>estimated geometry. The practical effect is that errors degrade performance</a:t>
            </a:r>
          </a:p>
          <a:p>
            <a:r>
              <a:rPr sz="1200">
                <a:latin typeface="Arial"/>
              </a:rPr>
              <a:t>instead of causing failure: when the map drifts, the robot searches longer, and</a:t>
            </a:r>
          </a:p>
          <a:p>
            <a:r>
              <a:rPr sz="1200">
                <a:latin typeface="Arial"/>
              </a:rPr>
              <a:t>when turning is asymmetric, it makes a few more corrections, but it still</a:t>
            </a:r>
          </a:p>
          <a:p>
            <a:r>
              <a:rPr sz="1200">
                <a:latin typeface="Arial"/>
              </a:rPr>
              <a:t>completes the mission.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The one exception is the undetected empty gripper, and we have said why. In</a:t>
            </a:r>
          </a:p>
          <a:p>
            <a:r>
              <a:rPr sz="1200">
                <a:latin typeface="Arial"/>
              </a:rPr>
              <a:t>general, on hardware without proprioception, we would rather be conservative and</a:t>
            </a:r>
          </a:p>
          <a:p>
            <a:r>
              <a:rPr sz="1200">
                <a:latin typeface="Arial"/>
              </a:rPr>
              <a:t>slow than confidently wrong.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Our immediate next steps are small. Enable grasp verification, which costs one</a:t>
            </a:r>
          </a:p>
          <a:p>
            <a:r>
              <a:rPr sz="1200">
                <a:latin typeface="Arial"/>
              </a:rPr>
              <a:t>additional observation per pickup. And calibrate the two turn constants, because</a:t>
            </a:r>
          </a:p>
          <a:p>
            <a:r>
              <a:rPr sz="1200">
                <a:latin typeface="Arial"/>
              </a:rPr>
              <a:t>the per direction scale factors already exist in the configuration and are simply</a:t>
            </a:r>
          </a:p>
          <a:p>
            <a:r>
              <a:rPr sz="1200">
                <a:latin typeface="Arial"/>
              </a:rPr>
              <a:t>set to one.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If we had a budget for sensors, the order would be: a forward distance sensor,</a:t>
            </a:r>
          </a:p>
          <a:p>
            <a:r>
              <a:rPr sz="1200">
                <a:latin typeface="Arial"/>
              </a:rPr>
              <a:t>which would be the first true metric measurement in the system; force or current</a:t>
            </a:r>
          </a:p>
          <a:p>
            <a:r>
              <a:rPr sz="1200">
                <a:latin typeface="Arial"/>
              </a:rPr>
              <a:t>sensing in the gripper, which addresses the empty gripper failure directly; track</a:t>
            </a:r>
          </a:p>
          <a:p>
            <a:r>
              <a:rPr sz="1200">
                <a:latin typeface="Arial"/>
              </a:rPr>
              <a:t>odometry, which would turn the map from a hint into a measurement; and more tags</a:t>
            </a:r>
          </a:p>
          <a:p>
            <a:r>
              <a:rPr sz="1200">
                <a:latin typeface="Arial"/>
              </a:rPr>
              <a:t>in the room as cheap relocalisation anchors.</a:t>
            </a:r>
          </a:p>
          <a:p>
            <a:endParaRPr sz="1200">
              <a:latin typeface="Arial"/>
            </a:endParaRPr>
          </a:p>
          <a:p>
            <a:r>
              <a:rPr sz="1200">
                <a:latin typeface="Arial"/>
              </a:rPr>
              <a:t>Thank you for your attention. We are happy to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30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Self-Propelled Arm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883664"/>
            <a:ext cx="1005840" cy="32004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obot_platfor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12848"/>
            <a:ext cx="3520440" cy="2388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2761488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37222"/>
                </a:solidFill>
                <a:latin typeface="Arial"/>
              </a:rPr>
              <a:t>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3072384"/>
            <a:ext cx="4617720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3255264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Filip Chekalkin, Huaijing Hou, Spaska Janeva, Kamen Kanev,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Giorgi Khundadze, Xiaosheng Tan, Stoyan Vlaev, Weiye Yuan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4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Arial"/>
              </a:rPr>
              <a:t>Embedded Systems, Cyber-Physical Systems and Robotics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Arial"/>
              </a:rPr>
              <a:t>Technical University of Munich, Campus Heilbronn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Introduction and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4708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System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8142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" y="2231136"/>
            <a:ext cx="4873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Autonomous can collection robot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450591"/>
            <a:ext cx="48737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dirty="0">
                <a:solidFill>
                  <a:srgbClr val="5A5A5A"/>
                </a:solidFill>
                <a:latin typeface="Arial"/>
              </a:rPr>
              <a:t>Tracked indoor platform with a four link arm and a parallel gripper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1294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2962656"/>
            <a:ext cx="4873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A single RGB camera as the only 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182112"/>
            <a:ext cx="48737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No depth sensor, no range finder, no wheel encoders, no force sensing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4446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7" y="3694176"/>
            <a:ext cx="4873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Vision in the loop at every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3913632"/>
            <a:ext cx="48737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Search, approach, grasp and delivery are decided from the image</a:t>
            </a:r>
          </a:p>
        </p:txBody>
      </p:sp>
      <p:pic>
        <p:nvPicPr>
          <p:cNvPr id="17" name="Picture 16" descr="targets_and_b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498848"/>
            <a:ext cx="2743200" cy="18288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577840" y="1847088"/>
            <a:ext cx="7315" cy="43434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33872" y="1847088"/>
            <a:ext cx="29900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Outline</a:t>
            </a:r>
          </a:p>
        </p:txBody>
      </p:sp>
      <p:pic>
        <p:nvPicPr>
          <p:cNvPr id="21" name="Picture 20" descr="ic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2286000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54496" y="2267712"/>
            <a:ext cx="25694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Problem and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2523744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dirty="0">
                <a:solidFill>
                  <a:srgbClr val="5A5A5A"/>
                </a:solidFill>
                <a:latin typeface="Arial"/>
              </a:rPr>
              <a:t>Task definition and hardware constraints</a:t>
            </a:r>
          </a:p>
        </p:txBody>
      </p:sp>
      <p:pic>
        <p:nvPicPr>
          <p:cNvPr id="24" name="Picture 23" descr="ic_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3090672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54496" y="3072384"/>
            <a:ext cx="25694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Architecture and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3328415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System components, state machine, grasping</a:t>
            </a:r>
          </a:p>
        </p:txBody>
      </p:sp>
      <p:pic>
        <p:nvPicPr>
          <p:cNvPr id="27" name="Picture 26" descr="ic_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2" y="3895344"/>
            <a:ext cx="310896" cy="310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54496" y="3877056"/>
            <a:ext cx="25694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Perception and demonstration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4133088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Detection results and a complete run on hardware</a:t>
            </a:r>
          </a:p>
        </p:txBody>
      </p:sp>
      <p:pic>
        <p:nvPicPr>
          <p:cNvPr id="30" name="Picture 29" descr="ic_gr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2" y="4700016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54496" y="4681728"/>
            <a:ext cx="25694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Experimental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4937760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Detector accuracy and mission timing</a:t>
            </a:r>
          </a:p>
        </p:txBody>
      </p:sp>
      <p:pic>
        <p:nvPicPr>
          <p:cNvPr id="33" name="Picture 32" descr="ic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3872" y="5504688"/>
            <a:ext cx="310896" cy="3108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54496" y="5486400"/>
            <a:ext cx="25694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Limitations and 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4496" y="5742432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Open issues, summary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Objective and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47088"/>
            <a:ext cx="507492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46304" indent="-146304">
              <a:lnSpc>
                <a:spcPct val="125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250" b="0">
                <a:solidFill>
                  <a:srgbClr val="5A5A5A"/>
                </a:solidFill>
                <a:latin typeface="Arial"/>
              </a:rPr>
              <a:t>Drink cans accumulate in indoor public spaces</a:t>
            </a:r>
          </a:p>
          <a:p>
            <a:pPr marL="146304" indent="-146304">
              <a:lnSpc>
                <a:spcPct val="125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250" b="0">
                <a:solidFill>
                  <a:srgbClr val="5A5A5A"/>
                </a:solidFill>
                <a:latin typeface="Arial"/>
              </a:rPr>
              <a:t>Collection is repetitive, low risk manual work</a:t>
            </a:r>
          </a:p>
          <a:p>
            <a:pPr marL="146304" indent="-146304">
              <a:lnSpc>
                <a:spcPct val="125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250" b="0">
                <a:solidFill>
                  <a:srgbClr val="5A5A5A"/>
                </a:solidFill>
                <a:latin typeface="Arial"/>
              </a:rPr>
              <a:t>The task combines perception, navigation, decision making and manipulation</a:t>
            </a:r>
          </a:p>
        </p:txBody>
      </p:sp>
      <p:pic>
        <p:nvPicPr>
          <p:cNvPr id="8" name="Picture 7" descr="ic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35808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" y="3017520"/>
            <a:ext cx="4654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273552"/>
            <a:ext cx="46542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Rotate in place until the detector accepts a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" y="3383279"/>
            <a:ext cx="18288" cy="329184"/>
          </a:xfrm>
          <a:prstGeom prst="rect">
            <a:avLst/>
          </a:prstGeom>
          <a:solidFill>
            <a:srgbClr val="98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c_s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767327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" y="3749039"/>
            <a:ext cx="4654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005072"/>
            <a:ext cx="46542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Steer on the image error, stop on apparent 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" y="4114800"/>
            <a:ext cx="18288" cy="329184"/>
          </a:xfrm>
          <a:prstGeom prst="rect">
            <a:avLst/>
          </a:prstGeom>
          <a:solidFill>
            <a:srgbClr val="98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_wr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498848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0664" y="4480560"/>
            <a:ext cx="4654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Grasp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736592"/>
            <a:ext cx="46542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Lower the arm, push, close, lift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" y="4846320"/>
            <a:ext cx="18288" cy="329184"/>
          </a:xfrm>
          <a:prstGeom prst="rect">
            <a:avLst/>
          </a:prstGeom>
          <a:solidFill>
            <a:srgbClr val="98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_t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5230368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0664" y="5212080"/>
            <a:ext cx="4654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5468112"/>
            <a:ext cx="46542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Dock on the AprilTag and release above the bin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05856" y="1847088"/>
            <a:ext cx="7315" cy="41605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18470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Sensor configuration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33629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0488" y="2286000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Single RGB camera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049524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0488" y="2999232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No depth sensing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762756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0488" y="3712464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No wheel encoders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47598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0488" y="4425696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No force sensing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Components and software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8513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A5A5A"/>
                </a:solidFill>
                <a:latin typeface="Arial"/>
              </a:rPr>
              <a:t>Three subsystems are connected to the Jetson Nano. Only the servo chain reports its state 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3063239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_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3337559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42232" y="3246120"/>
            <a:ext cx="12344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Jetson Nano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Arial"/>
              </a:rPr>
              <a:t>4 GB shared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27248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c_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19272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3236976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CSI camera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320 x 240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3493007"/>
            <a:ext cx="1005840" cy="0"/>
          </a:xfrm>
          <a:prstGeom prst="line">
            <a:avLst/>
          </a:prstGeom>
          <a:ln w="19050">
            <a:solidFill>
              <a:srgbClr val="006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70048" y="323697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05293"/>
                </a:solidFill>
                <a:latin typeface="Arial"/>
              </a:rPr>
              <a:t>CSI-2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354787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frames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1975103"/>
            <a:ext cx="2240280" cy="896112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_ta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194560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86600" y="210312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Two track motors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PWM via motor driver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no position feedback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486400" y="2423160"/>
            <a:ext cx="1051560" cy="914400"/>
          </a:xfrm>
          <a:prstGeom prst="line">
            <a:avLst/>
          </a:prstGeom>
          <a:ln w="19050">
            <a:solidFill>
              <a:srgbClr val="006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37960" y="3785615"/>
            <a:ext cx="2240280" cy="896112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_wre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005072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86600" y="3913632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Five bus servos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one TTL serial chain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1">
                <a:solidFill>
                  <a:srgbClr val="005293"/>
                </a:solidFill>
                <a:latin typeface="Arial"/>
              </a:rPr>
              <a:t>position readable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0" y="3657600"/>
            <a:ext cx="1051560" cy="576072"/>
          </a:xfrm>
          <a:prstGeom prst="line">
            <a:avLst/>
          </a:prstGeom>
          <a:ln w="19050">
            <a:solidFill>
              <a:srgbClr val="006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83680" y="480974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892040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22592" y="480974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22592" y="4892040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31152" y="4983480"/>
            <a:ext cx="91440" cy="0"/>
          </a:xfrm>
          <a:prstGeom prst="line">
            <a:avLst/>
          </a:prstGeom>
          <a:ln w="12700">
            <a:solidFill>
              <a:srgbClr val="64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61504" y="480974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61504" y="4892040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70064" y="4983480"/>
            <a:ext cx="91440" cy="0"/>
          </a:xfrm>
          <a:prstGeom prst="line">
            <a:avLst/>
          </a:prstGeom>
          <a:ln w="12700">
            <a:solidFill>
              <a:srgbClr val="64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900416" y="480974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00416" y="4892040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08976" y="4983480"/>
            <a:ext cx="91440" cy="0"/>
          </a:xfrm>
          <a:prstGeom prst="line">
            <a:avLst/>
          </a:prstGeom>
          <a:ln w="12700">
            <a:solidFill>
              <a:srgbClr val="64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339328" y="480974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39328" y="4892040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47888" y="4983480"/>
            <a:ext cx="91440" cy="0"/>
          </a:xfrm>
          <a:prstGeom prst="line">
            <a:avLst/>
          </a:prstGeom>
          <a:ln w="12700">
            <a:solidFill>
              <a:srgbClr val="64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37960" y="52303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S4 closes the gripper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572000"/>
            <a:ext cx="2103120" cy="64008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Battery and power rail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1554480" y="3858768"/>
            <a:ext cx="0" cy="713232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606040" y="4892040"/>
            <a:ext cx="1938528" cy="0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544568" y="3931920"/>
            <a:ext cx="0" cy="960120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880360" y="4937759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power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577840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570585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Software stack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016752"/>
            <a:ext cx="68580" cy="146304"/>
          </a:xfrm>
          <a:prstGeom prst="rect">
            <a:avLst/>
          </a:prstGeom>
          <a:solidFill>
            <a:srgbClr val="005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6344" y="5971032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Mission layer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" y="616305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demo_core state machine, 16 states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87168" y="601675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33472" y="5971032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Perception layer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33472" y="616305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detectNet, pupil_apriltags, OpenCV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54296" y="6016752"/>
            <a:ext cx="68580" cy="146304"/>
          </a:xfrm>
          <a:prstGeom prst="rect">
            <a:avLst/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00600" y="5971032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Hardware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00600" y="616305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jetbot Robot and Camera, TTLServo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21424" y="6016752"/>
            <a:ext cx="68580" cy="146304"/>
          </a:xfrm>
          <a:prstGeom prst="rect">
            <a:avLst/>
          </a:prstGeom>
          <a:solidFill>
            <a:srgbClr val="98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967728" y="5971032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Configuration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67728" y="616305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config.json, empirical_parameters.json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State Machine and Control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Mission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fsm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66543"/>
            <a:ext cx="4846320" cy="3009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17550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Design level state graph. Transition guards are fields of a single shared context object.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1808" y="2011680"/>
            <a:ext cx="7315" cy="361188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32120" y="201168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Vision driven states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242773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33288" y="2377440"/>
            <a:ext cx="3090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Searching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3288" y="2596896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Rotate until a target is accepted or the timeout expires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297637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3288" y="2926080"/>
            <a:ext cx="3090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Aligning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3145536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Turn to tolerance, abort if the target is lost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352501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33288" y="3474720"/>
            <a:ext cx="3090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Approaching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3694176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Steer or drive forward, stop on apparent size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407365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33288" y="4023360"/>
            <a:ext cx="3090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Final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4242816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Tighter tolerance over consecutive frames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4626864"/>
            <a:ext cx="3291840" cy="987552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87568" y="473659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e</a:t>
            </a:r>
            <a:r>
              <a:rPr sz="950" b="1">
                <a:solidFill>
                  <a:srgbClr val="1A1A1A"/>
                </a:solidFill>
                <a:latin typeface="Arial"/>
              </a:rPr>
              <a:t>x</a:t>
            </a:r>
            <a:r>
              <a:rPr sz="1400" b="1">
                <a:solidFill>
                  <a:srgbClr val="1A1A1A"/>
                </a:solidFill>
                <a:latin typeface="Arial"/>
              </a:rPr>
              <a:t> = ( x</a:t>
            </a:r>
            <a:r>
              <a:rPr sz="950" b="1">
                <a:solidFill>
                  <a:srgbClr val="1A1A1A"/>
                </a:solidFill>
                <a:latin typeface="Arial"/>
              </a:rPr>
              <a:t>c</a:t>
            </a:r>
            <a:r>
              <a:rPr sz="1400" b="1">
                <a:solidFill>
                  <a:srgbClr val="1A1A1A"/>
                </a:solidFill>
                <a:latin typeface="Arial"/>
              </a:rPr>
              <a:t> - W/2 ) / 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5102352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46304" indent="-146304">
              <a:lnSpc>
                <a:spcPct val="114000"/>
              </a:lnSpc>
              <a:spcAft>
                <a:spcPts val="0"/>
              </a:spcAft>
              <a:buClr>
                <a:srgbClr val="0065BD"/>
              </a:buClr>
              <a:buFont typeface="Arial"/>
              <a:buChar char="•"/>
            </a:pPr>
            <a:r>
              <a:rPr sz="900" b="0">
                <a:solidFill>
                  <a:srgbClr val="5A5A5A"/>
                </a:solidFill>
                <a:latin typeface="Arial"/>
              </a:rPr>
              <a:t>Range -0.5 to 0.5, negative to the left of centre</a:t>
            </a:r>
          </a:p>
          <a:p>
            <a:pPr marL="146304" indent="-146304">
              <a:lnSpc>
                <a:spcPct val="114000"/>
              </a:lnSpc>
              <a:spcAft>
                <a:spcPts val="0"/>
              </a:spcAft>
              <a:buClr>
                <a:srgbClr val="0065BD"/>
              </a:buClr>
              <a:buFont typeface="Arial"/>
              <a:buChar char="•"/>
            </a:pPr>
            <a:r>
              <a:rPr sz="900" b="0">
                <a:solidFill>
                  <a:srgbClr val="5A5A5A"/>
                </a:solidFill>
                <a:latin typeface="Arial"/>
              </a:rPr>
              <a:t>Stop thresholds: 0.36 box height, 0.15 tag height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742432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5888736"/>
            <a:ext cx="8513064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46304" indent="-146304">
              <a:lnSpc>
                <a:spcPct val="118000"/>
              </a:lnSpc>
              <a:spcAft>
                <a:spcPts val="100"/>
              </a:spcAft>
              <a:buClr>
                <a:srgbClr val="64A0C8"/>
              </a:buClr>
              <a:buFont typeface="Arial"/>
              <a:buChar char="•"/>
            </a:pPr>
            <a:r>
              <a:rPr sz="1050" b="0">
                <a:solidFill>
                  <a:srgbClr val="5A5A5A"/>
                </a:solidFill>
                <a:latin typeface="Arial"/>
              </a:rPr>
              <a:t>Transitions are held in an explicit table, so an undeclared state and event pair raises an error</a:t>
            </a:r>
          </a:p>
          <a:p>
            <a:pPr marL="146304" indent="-146304">
              <a:lnSpc>
                <a:spcPct val="118000"/>
              </a:lnSpc>
              <a:spcAft>
                <a:spcPts val="100"/>
              </a:spcAft>
              <a:buClr>
                <a:srgbClr val="64A0C8"/>
              </a:buClr>
              <a:buFont typeface="Arial"/>
              <a:buChar char="•"/>
            </a:pPr>
            <a:r>
              <a:rPr sz="1050" b="0">
                <a:solidFill>
                  <a:srgbClr val="5A5A5A"/>
                </a:solidFill>
                <a:latin typeface="Arial"/>
              </a:rPr>
              <a:t>Finalising requires a stable target, a condition map based navigation never reaches, so dead reckoning triggers no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Grasping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Manipulation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8513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A5A5A"/>
                </a:solidFill>
                <a:latin typeface="Arial"/>
              </a:rPr>
              <a:t>Fixed poses — no inverse kinematics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" y="2267712"/>
            <a:ext cx="1042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46888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706624"/>
            <a:ext cx="104241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2.0 s settle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19656" y="2267712"/>
            <a:ext cx="1042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246888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Lower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6" y="2706624"/>
            <a:ext cx="104241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arm_down pose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91256" y="2267712"/>
            <a:ext cx="1042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1256" y="246888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1256" y="2706624"/>
            <a:ext cx="104241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Slow forward drive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62855" y="2267712"/>
            <a:ext cx="1042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5" y="246888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5" y="2706624"/>
            <a:ext cx="104241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5.0 s lock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34455" y="2267712"/>
            <a:ext cx="1042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4455" y="246888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4455" y="2706624"/>
            <a:ext cx="104241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Grab pose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06055" y="2267712"/>
            <a:ext cx="1042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6055" y="246888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Lift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6055" y="2706624"/>
            <a:ext cx="104241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Carry pose</a:t>
            </a:r>
          </a:p>
        </p:txBody>
      </p:sp>
      <p:pic>
        <p:nvPicPr>
          <p:cNvPr id="32" name="Picture 31" descr="grasp_seque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346704"/>
            <a:ext cx="3657600" cy="2743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20040" y="614476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Verify · push · close · carry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3346704"/>
            <a:ext cx="4599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37222"/>
                </a:solidFill>
                <a:latin typeface="Arial"/>
              </a:rPr>
              <a:t>Why push, not reach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3657600"/>
            <a:ext cx="4599432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E37222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Short arm, imprecise gripper</a:t>
            </a:r>
          </a:p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E37222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Base drives reliably</a:t>
            </a:r>
          </a:p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E37222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Can driven into open gripper</a:t>
            </a:r>
          </a:p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E37222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Coarse motion beats fine manipulation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4809744"/>
            <a:ext cx="4599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Servo feedback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5120640"/>
            <a:ext cx="4599432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Polled until readings stabilise</a:t>
            </a:r>
          </a:p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Push blocked until settled</a:t>
            </a:r>
          </a:p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4.94 s settle · 7.0 s push · 5.0 s 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7</a:t>
            </a:r>
          </a:p>
        </p:txBody>
      </p:sp>
      <p:pic>
        <p:nvPicPr>
          <p:cNvPr id="7" name="Picture 6" descr="robot_platfor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0"/>
            <a:ext cx="2560320" cy="1737360"/>
          </a:xfrm>
          <a:prstGeom prst="rect">
            <a:avLst/>
          </a:prstGeom>
        </p:spPr>
      </p:pic>
      <p:pic>
        <p:nvPicPr>
          <p:cNvPr id="8" name="Picture 7" descr="targets_and_b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76" y="2011680"/>
            <a:ext cx="2606040" cy="1737360"/>
          </a:xfrm>
          <a:prstGeom prst="rect">
            <a:avLst/>
          </a:prstGeom>
        </p:spPr>
      </p:pic>
      <p:pic>
        <p:nvPicPr>
          <p:cNvPr id="9" name="Picture 8" descr="bin_releas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2011680"/>
            <a:ext cx="3082413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387705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Platform with grasped 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6" y="3877056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Arena: can, AprilTag bin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2" y="3877056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Release above bin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498848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468172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065BD"/>
                </a:solidFill>
                <a:latin typeface="Arial"/>
              </a:rPr>
              <a:t>73.8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1023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Full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68172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065BD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51023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Camera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68172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065BD"/>
                </a:solidFill>
                <a:latin typeface="Arial"/>
              </a:rPr>
              <a:t>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1023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Can detections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68172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065BD"/>
                </a:solidFill>
                <a:latin typeface="Arial"/>
              </a:rPr>
              <a:t>41 / 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1023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Tag reads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resentv_x264">
            <a:hlinkClick r:id="" action="ppaction://media"/>
            <a:extLst>
              <a:ext uri="{FF2B5EF4-FFF2-40B4-BE49-F238E27FC236}">
                <a16:creationId xmlns:a16="http://schemas.microsoft.com/office/drawing/2014/main" id="{FE29A607-143C-1969-B94C-E494A870944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6192" y="1762188"/>
            <a:ext cx="8354795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36DFF2-F221-F694-695F-AC7388FD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41036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Video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71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0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Object and Marker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8513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A5A5A"/>
                </a:solidFill>
                <a:latin typeface="Arial"/>
              </a:rPr>
              <a:t>Two detectors, every controller input</a:t>
            </a:r>
          </a:p>
        </p:txBody>
      </p:sp>
      <p:pic>
        <p:nvPicPr>
          <p:cNvPr id="8" name="Picture 7" descr="can_pre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49424"/>
            <a:ext cx="201168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37083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Detector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62686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SSD-MobileNet-V1 · 300 × 300</a:t>
            </a:r>
          </a:p>
        </p:txBody>
      </p:sp>
      <p:pic>
        <p:nvPicPr>
          <p:cNvPr id="11" name="Picture 10" descr="onboard_can_detec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2249424"/>
            <a:ext cx="268224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51760" y="4370832"/>
            <a:ext cx="2679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Can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626864"/>
            <a:ext cx="2679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error −0.119 · height 0.255</a:t>
            </a:r>
          </a:p>
        </p:txBody>
      </p:sp>
      <p:pic>
        <p:nvPicPr>
          <p:cNvPr id="14" name="Picture 13" descr="onboard_tag_detect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249424"/>
            <a:ext cx="2682240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0" y="4370832"/>
            <a:ext cx="2679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Tag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626864"/>
            <a:ext cx="2679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tag36h11 id 0 · height 0.186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430580-F91F-C0EC-A55C-6768C746F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pic>
        <p:nvPicPr>
          <p:cNvPr id="6" name="WhatsApp Video 2026-09-05 at 17.47.17">
            <a:hlinkClick r:id="" action="ppaction://media"/>
            <a:extLst>
              <a:ext uri="{FF2B5EF4-FFF2-40B4-BE49-F238E27FC236}">
                <a16:creationId xmlns:a16="http://schemas.microsoft.com/office/drawing/2014/main" id="{306ADE2B-70BA-E197-3795-271003AE2AB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8234" y="955431"/>
            <a:ext cx="7307531" cy="548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1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4708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Detector accuracy, F1</a:t>
            </a:r>
          </a:p>
        </p:txBody>
      </p:sp>
      <p:pic>
        <p:nvPicPr>
          <p:cNvPr id="8" name="Picture 7" descr="chart_detector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21408"/>
            <a:ext cx="4114800" cy="1890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09160" y="184708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Base motion per phase</a:t>
            </a:r>
          </a:p>
        </p:txBody>
      </p:sp>
      <p:pic>
        <p:nvPicPr>
          <p:cNvPr id="10" name="Picture 9" descr="chart_phas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121408"/>
            <a:ext cx="4114800" cy="20017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4261104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442569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065BD"/>
                </a:solidFill>
                <a:latin typeface="Arial"/>
              </a:rPr>
              <a:t>73.8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8463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Full 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42569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065BD"/>
                </a:solidFill>
                <a:latin typeface="Arial"/>
              </a:rPr>
              <a:t>31.2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8463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Base motion, 42 %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42569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37222"/>
                </a:solidFill>
                <a:latin typeface="Arial"/>
              </a:rPr>
              <a:t>11.9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8463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Deliberate holds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42569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65BD"/>
                </a:solidFill>
                <a:latin typeface="Arial"/>
              </a:rPr>
              <a:t>4.4 × 10⁻⁷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8463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PyTorch vs. ONNX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321808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5468112"/>
            <a:ext cx="40416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Accuracy vs. deployability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742432"/>
            <a:ext cx="4041648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64A0C8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−6 F1 photos, −2 video</a:t>
            </a:r>
          </a:p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64A0C8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No custom post-processing</a:t>
            </a:r>
          </a:p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64A0C8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Native NVIDIA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5431536"/>
            <a:ext cx="7315" cy="100584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60" y="5468112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E37222"/>
                </a:solidFill>
                <a:latin typeface="Arial"/>
              </a:rPr>
              <a:t>Caveat: archived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742432"/>
            <a:ext cx="411480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Earlier prototype, TensorRT detector</a:t>
            </a:r>
          </a:p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Legacy thresholds 0.400 / 0.500</a:t>
            </a:r>
          </a:p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Counts and timings exact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Limitations and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47088"/>
            <a:ext cx="2743200" cy="2139696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c_eyes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93392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35915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37222"/>
                </a:solidFill>
                <a:latin typeface="Arial"/>
              </a:rPr>
              <a:t>Depth excluded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06624"/>
            <a:ext cx="23774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0.3 m general scenes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1 m white surfaces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Detector reaches 3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9417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Arial"/>
              </a:rPr>
              <a:t>Removed from control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1847088"/>
            <a:ext cx="2743200" cy="2139696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_un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993392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92424" y="235915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37222"/>
                </a:solidFill>
                <a:latin typeface="Arial"/>
              </a:rPr>
              <a:t>Pose drifts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2706624"/>
            <a:ext cx="23774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Left / right: 1–3 rad/s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Modelled 0.471 / 0.942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Error exceeds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369417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Arial"/>
              </a:rPr>
              <a:t>AprilTag: only anchor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47088"/>
            <a:ext cx="2743200" cy="2139696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_b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993392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81928" y="235915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37222"/>
                </a:solidFill>
                <a:latin typeface="Arial"/>
              </a:rPr>
              <a:t>Silent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706624"/>
            <a:ext cx="23774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Verification disabled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Pickup always recorded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Empty gripper reports 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69417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Arial"/>
              </a:rPr>
              <a:t>First fix: verification 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187952"/>
            <a:ext cx="8513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5293"/>
                </a:solidFill>
                <a:latin typeface="Arial"/>
              </a:rPr>
              <a:t>Missing capability: relocalisation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35424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4681728"/>
            <a:ext cx="8513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Principal challenges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07949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7" y="502920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Open-loop turning unreliable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5248656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Pulses + visual correction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554979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7" y="550468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No gripper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72414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Full and empty identical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03046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7" y="598017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10–15 fps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" y="619963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Pulsed motion, low speeds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992624"/>
            <a:ext cx="7315" cy="146304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828032" y="507949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0" y="5029200"/>
            <a:ext cx="3794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Model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248656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Accuracy traded for reliability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28032" y="5554979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5504688"/>
            <a:ext cx="3794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Depth underperformed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724144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Unreliable at useful ranges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28032" y="603046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0" y="5980176"/>
            <a:ext cx="3794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Grasp timing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6199632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Polling beat fixed delay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4708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76272"/>
            <a:ext cx="50749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46304" indent="-146304">
              <a:lnSpc>
                <a:spcPct val="120000"/>
              </a:lnSpc>
              <a:spcAft>
                <a:spcPts val="600"/>
              </a:spcAft>
              <a:buClr>
                <a:srgbClr val="64A0C8"/>
              </a:buClr>
              <a:buFont typeface="Arial"/>
              <a:buChar char="•"/>
            </a:pPr>
            <a:r>
              <a:rPr sz="1200" b="0">
                <a:solidFill>
                  <a:srgbClr val="5A5A5A"/>
                </a:solidFill>
                <a:latin typeface="Arial"/>
              </a:rPr>
              <a:t>Mobile manipulator, single camera</a:t>
            </a:r>
          </a:p>
          <a:p>
            <a:pPr marL="146304" indent="-146304">
              <a:lnSpc>
                <a:spcPct val="120000"/>
              </a:lnSpc>
              <a:spcAft>
                <a:spcPts val="600"/>
              </a:spcAft>
              <a:buClr>
                <a:srgbClr val="64A0C8"/>
              </a:buClr>
              <a:buFont typeface="Arial"/>
              <a:buChar char="•"/>
            </a:pPr>
            <a:r>
              <a:rPr sz="1200" b="0">
                <a:solidFill>
                  <a:srgbClr val="5A5A5A"/>
                </a:solidFill>
                <a:latin typeface="Arial"/>
              </a:rPr>
              <a:t>Closed on appearance, not geometry</a:t>
            </a:r>
          </a:p>
          <a:p>
            <a:pPr marL="146304" indent="-146304">
              <a:lnSpc>
                <a:spcPct val="120000"/>
              </a:lnSpc>
              <a:spcAft>
                <a:spcPts val="600"/>
              </a:spcAft>
              <a:buClr>
                <a:srgbClr val="64A0C8"/>
              </a:buClr>
              <a:buFont typeface="Arial"/>
              <a:buChar char="•"/>
            </a:pPr>
            <a:r>
              <a:rPr sz="1200" b="0">
                <a:solidFill>
                  <a:srgbClr val="5A5A5A"/>
                </a:solidFill>
                <a:latin typeface="Arial"/>
              </a:rPr>
              <a:t>Errors degrade, never break</a:t>
            </a:r>
          </a:p>
          <a:p>
            <a:pPr marL="146304" indent="-146304">
              <a:lnSpc>
                <a:spcPct val="120000"/>
              </a:lnSpc>
              <a:spcAft>
                <a:spcPts val="600"/>
              </a:spcAft>
              <a:buClr>
                <a:srgbClr val="64A0C8"/>
              </a:buClr>
              <a:buFont typeface="Arial"/>
              <a:buChar char="•"/>
            </a:pPr>
            <a:r>
              <a:rPr sz="1200" b="0">
                <a:solidFill>
                  <a:srgbClr val="5A5A5A"/>
                </a:solidFill>
                <a:latin typeface="Arial"/>
              </a:rPr>
              <a:t>Drifting map lengthens search</a:t>
            </a:r>
          </a:p>
          <a:p>
            <a:pPr marL="146304" indent="-146304">
              <a:lnSpc>
                <a:spcPct val="120000"/>
              </a:lnSpc>
              <a:spcAft>
                <a:spcPts val="600"/>
              </a:spcAft>
              <a:buClr>
                <a:srgbClr val="64A0C8"/>
              </a:buClr>
              <a:buFont typeface="Arial"/>
              <a:buChar char="•"/>
            </a:pPr>
            <a:r>
              <a:rPr sz="1200" b="0">
                <a:solidFill>
                  <a:srgbClr val="5A5A5A"/>
                </a:solidFill>
                <a:latin typeface="Arial"/>
              </a:rPr>
              <a:t>Asymmetric turning needs corrections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553712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Next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951476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7" y="4901184"/>
            <a:ext cx="4873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Enable grasp 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7" y="5394960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7" y="5394960"/>
            <a:ext cx="4873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dirty="0">
                <a:solidFill>
                  <a:srgbClr val="1A1A1A"/>
                </a:solidFill>
                <a:latin typeface="Arial"/>
              </a:rPr>
              <a:t>Calibrate turn constants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847088"/>
            <a:ext cx="7315" cy="43434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33872" y="1847088"/>
            <a:ext cx="29900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Sensors worth adding</a:t>
            </a:r>
          </a:p>
        </p:txBody>
      </p:sp>
      <p:pic>
        <p:nvPicPr>
          <p:cNvPr id="20" name="Picture 19" descr="ic_s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286000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54496" y="2267712"/>
            <a:ext cx="25694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Forward distance sensor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523744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First metric measurement</a:t>
            </a:r>
          </a:p>
        </p:txBody>
      </p:sp>
      <p:pic>
        <p:nvPicPr>
          <p:cNvPr id="23" name="Picture 22" descr="ic_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3255264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54496" y="3236976"/>
            <a:ext cx="25694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Gripper force sensing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493008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Fixes empty gripper</a:t>
            </a:r>
          </a:p>
        </p:txBody>
      </p:sp>
      <p:pic>
        <p:nvPicPr>
          <p:cNvPr id="26" name="Picture 25" descr="ic_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4224527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54496" y="4206240"/>
            <a:ext cx="25694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Wheel odometry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462272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Map becomes measurement</a:t>
            </a:r>
          </a:p>
        </p:txBody>
      </p:sp>
      <p:pic>
        <p:nvPicPr>
          <p:cNvPr id="29" name="Picture 28" descr="ic_t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2" y="5193792"/>
            <a:ext cx="310896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54496" y="5175504"/>
            <a:ext cx="25694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More room tags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5431536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Cheap relocalisation anchors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3665</Words>
  <Application>Microsoft Office PowerPoint</Application>
  <PresentationFormat>全屏显示(4:3)</PresentationFormat>
  <Paragraphs>496</Paragraphs>
  <Slides>13</Slides>
  <Notes>11</Notes>
  <HiddenSlides>0</HiddenSlides>
  <MMClips>2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Calibri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Self-Propelled Arm System</vt:lpstr>
      <vt:lpstr>Introduction and Outline</vt:lpstr>
      <vt:lpstr>Problem Statement</vt:lpstr>
      <vt:lpstr>System Architecture</vt:lpstr>
      <vt:lpstr>State Machine and Control Logic</vt:lpstr>
      <vt:lpstr>Grasping Strategy</vt:lpstr>
      <vt:lpstr>Experimental Setup</vt:lpstr>
      <vt:lpstr>Video</vt:lpstr>
      <vt:lpstr>Object and Marker Detection</vt:lpstr>
      <vt:lpstr>PowerPoint 演示文稿</vt:lpstr>
      <vt:lpstr>Experimental Results</vt:lpstr>
      <vt:lpstr>Limitations and Challenges</vt:lpstr>
      <vt:lpstr>Conclusion and Future Work</vt:lpstr>
    </vt:vector>
  </TitlesOfParts>
  <Company>TUM ZIT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Bothe, Sonja</dc:creator>
  <cp:lastModifiedBy>Weiye Yuan</cp:lastModifiedBy>
  <cp:revision>4</cp:revision>
  <cp:lastPrinted>2015-07-30T14:04:45Z</cp:lastPrinted>
  <dcterms:created xsi:type="dcterms:W3CDTF">2021-10-05T07:49:29Z</dcterms:created>
  <dcterms:modified xsi:type="dcterms:W3CDTF">2026-09-09T00:59:55Z</dcterms:modified>
</cp:coreProperties>
</file>