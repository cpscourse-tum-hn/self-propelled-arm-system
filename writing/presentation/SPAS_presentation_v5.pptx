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29"/>
  </p:notesMasterIdLst>
  <p:handoutMasterIdLst>
    <p:handoutMasterId r:id="rId30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8272" autoAdjust="0"/>
  </p:normalViewPr>
  <p:slideViewPr>
    <p:cSldViewPr snapToGrid="0">
      <p:cViewPr varScale="1">
        <p:scale>
          <a:sx n="87" d="100"/>
          <a:sy n="87" d="100"/>
        </p:scale>
        <p:origin x="15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05/10/2021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05/10/2021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0:40]</a:t>
            </a:r>
          </a:p>
          <a:p/>
          <a:p>
            <a:r>
              <a:rPr sz="1200">
                <a:latin typeface="Arial"/>
              </a:rPr>
              <a:t>CUE: Title slide up before you start speaking. Say the team name, not the acronym letters.</a:t>
            </a:r>
          </a:p>
          <a:p/>
          <a:p>
            <a:r>
              <a:rPr sz="1200">
                <a:latin typeface="Arial"/>
              </a:rPr>
              <a:t>Good morning, and thank you for coming. We are the S.P.A.S. team, and our</a:t>
            </a:r>
          </a:p>
          <a:p>
            <a:r>
              <a:rPr sz="1200">
                <a:latin typeface="Arial"/>
              </a:rPr>
              <a:t>project is the Self-Propelled Arm System.</a:t>
            </a:r>
          </a:p>
          <a:p/>
          <a:p>
            <a:r>
              <a:rPr sz="1200">
                <a:latin typeface="Arial"/>
              </a:rPr>
              <a:t>It is a small tracked robot with a robotic arm on top. Its job is to find drink</a:t>
            </a:r>
          </a:p>
          <a:p>
            <a:r>
              <a:rPr sz="1200">
                <a:latin typeface="Arial"/>
              </a:rPr>
              <a:t>cans on the floor of an indoor room, pick them up, and drop them into a</a:t>
            </a:r>
          </a:p>
          <a:p>
            <a:r>
              <a:rPr sz="1200">
                <a:latin typeface="Arial"/>
              </a:rPr>
              <a:t>collection bin.</a:t>
            </a:r>
          </a:p>
          <a:p/>
          <a:p>
            <a:r>
              <a:rPr sz="1200">
                <a:latin typeface="Arial"/>
              </a:rPr>
              <a:t>The interesting part of the project is the constraint we worked under. The robot</a:t>
            </a:r>
          </a:p>
          <a:p>
            <a:r>
              <a:rPr sz="1200">
                <a:latin typeface="Arial"/>
              </a:rPr>
              <a:t>has one camera and no other sensor. Everything you will see today is decided</a:t>
            </a:r>
          </a:p>
          <a:p>
            <a:r>
              <a:rPr sz="1200">
                <a:latin typeface="Arial"/>
              </a:rPr>
              <a:t>from that single image.</a:t>
            </a:r>
          </a:p>
          <a:p/>
          <a:p>
            <a:r>
              <a:rPr sz="1200">
                <a:latin typeface="Arial"/>
              </a:rPr>
              <a:t>I will start with a short overview, and then my colleagues will take you through</a:t>
            </a:r>
          </a:p>
          <a:p>
            <a:r>
              <a:rPr sz="1200">
                <a:latin typeface="Arial"/>
              </a:rPr>
              <a:t>the system and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1:10]</a:t>
            </a:r>
          </a:p>
          <a:p/>
          <a:p>
            <a:r>
              <a:rPr sz="1200">
                <a:latin typeface="Arial"/>
              </a:rPr>
              <a:t>CUE: Point at the photograph on the left, then run down the outline on the right.</a:t>
            </a:r>
          </a:p>
          <a:p/>
          <a:p>
            <a:r>
              <a:rPr sz="1200">
                <a:latin typeface="Arial"/>
              </a:rPr>
              <a:t>Here is the system in three lines.</a:t>
            </a:r>
          </a:p>
          <a:p/>
          <a:p>
            <a:r>
              <a:rPr sz="1200">
                <a:latin typeface="Arial"/>
              </a:rPr>
              <a:t>First, it is an autonomous can collection robot: a tracked indoor platform with a</a:t>
            </a:r>
          </a:p>
          <a:p>
            <a:r>
              <a:rPr sz="1200">
                <a:latin typeface="Arial"/>
              </a:rPr>
              <a:t>four link arm and a parallel gripper.</a:t>
            </a:r>
          </a:p>
          <a:p/>
          <a:p>
            <a:r>
              <a:rPr sz="1200">
                <a:latin typeface="Arial"/>
              </a:rPr>
              <a:t>Second, and this is the important one, a single RGB camera is the only sensor.</a:t>
            </a:r>
          </a:p>
          <a:p>
            <a:r>
              <a:rPr sz="1200">
                <a:latin typeface="Arial"/>
              </a:rPr>
              <a:t>There is no depth sensor, no range finder, no wheel encoders, and no force</a:t>
            </a:r>
          </a:p>
          <a:p>
            <a:r>
              <a:rPr sz="1200">
                <a:latin typeface="Arial"/>
              </a:rPr>
              <a:t>sensing in the gripper.</a:t>
            </a:r>
          </a:p>
          <a:p/>
          <a:p>
            <a:r>
              <a:rPr sz="1200">
                <a:latin typeface="Arial"/>
              </a:rPr>
              <a:t>Third, because of that, vision is in the loop at every stage. Search, approach,</a:t>
            </a:r>
          </a:p>
          <a:p>
            <a:r>
              <a:rPr sz="1200">
                <a:latin typeface="Arial"/>
              </a:rPr>
              <a:t>grasp and delivery are all decided from the image.</a:t>
            </a:r>
          </a:p>
          <a:p/>
          <a:p>
            <a:r>
              <a:rPr sz="1200">
                <a:latin typeface="Arial"/>
              </a:rPr>
              <a:t>The photograph on the left shows the environment we work in: drink cans standing</a:t>
            </a:r>
          </a:p>
          <a:p>
            <a:r>
              <a:rPr sz="1200">
                <a:latin typeface="Arial"/>
              </a:rPr>
              <a:t>on the floor, and a bin marked with an AprilTag.</a:t>
            </a:r>
          </a:p>
          <a:p/>
          <a:p>
            <a:r>
              <a:rPr sz="1200">
                <a:latin typeface="Arial"/>
              </a:rPr>
              <a:t>The outline on the right is how we will proceed. We start with the problem and</a:t>
            </a:r>
          </a:p>
          <a:p>
            <a:r>
              <a:rPr sz="1200">
                <a:latin typeface="Arial"/>
              </a:rPr>
              <a:t>the platform, then the architecture and the control logic, then perception and a</a:t>
            </a:r>
          </a:p>
          <a:p>
            <a:r>
              <a:rPr sz="1200">
                <a:latin typeface="Arial"/>
              </a:rPr>
              <a:t>complete run on hardware, then the measured results, and we close with the</a:t>
            </a:r>
          </a:p>
          <a:p>
            <a:r>
              <a:rPr sz="1200">
                <a:latin typeface="Arial"/>
              </a:rPr>
              <a:t>limitations and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1:20]</a:t>
            </a:r>
          </a:p>
          <a:p/>
          <a:p>
            <a:r>
              <a:rPr sz="1200">
                <a:latin typeface="Arial"/>
              </a:rPr>
              <a:t>CUE: Left column is the four stages, right column is the sensor list. Land on the bottom right line.</a:t>
            </a:r>
          </a:p>
          <a:p/>
          <a:p>
            <a:r>
              <a:rPr sz="1200">
                <a:latin typeface="Arial"/>
              </a:rPr>
              <a:t>First, why this task.</a:t>
            </a:r>
          </a:p>
          <a:p/>
          <a:p>
            <a:r>
              <a:rPr sz="1200">
                <a:latin typeface="Arial"/>
              </a:rPr>
              <a:t>Drink cans accumulate in indoor public spaces, and collecting them is</a:t>
            </a:r>
          </a:p>
          <a:p>
            <a:r>
              <a:rPr sz="1200">
                <a:latin typeface="Arial"/>
              </a:rPr>
              <a:t>repetitive, low risk manual work. For us it was a good project task because it</a:t>
            </a:r>
          </a:p>
          <a:p>
            <a:r>
              <a:rPr sz="1200">
                <a:latin typeface="Arial"/>
              </a:rPr>
              <a:t>combines everything at once: perception, navigation, decision making and</a:t>
            </a:r>
          </a:p>
          <a:p>
            <a:r>
              <a:rPr sz="1200">
                <a:latin typeface="Arial"/>
              </a:rPr>
              <a:t>manipulation.</a:t>
            </a:r>
          </a:p>
          <a:p/>
          <a:p>
            <a:r>
              <a:rPr sz="1200">
                <a:latin typeface="Arial"/>
              </a:rPr>
              <a:t>The mission breaks into four stages, shown on the left.</a:t>
            </a:r>
          </a:p>
          <a:p/>
          <a:p>
            <a:r>
              <a:rPr sz="1200">
                <a:latin typeface="Arial"/>
              </a:rPr>
              <a:t>In detection, the robot rotates in place until the detector accepts a target.</a:t>
            </a:r>
          </a:p>
          <a:p>
            <a:r>
              <a:rPr sz="1200">
                <a:latin typeface="Arial"/>
              </a:rPr>
              <a:t>In approach, it steers on the image error and stops when the target looks large</a:t>
            </a:r>
          </a:p>
          <a:p>
            <a:r>
              <a:rPr sz="1200">
                <a:latin typeface="Arial"/>
              </a:rPr>
              <a:t>enough. In grasp, it lowers the arm, pushes, closes and lifts. In delivery, it</a:t>
            </a:r>
          </a:p>
          <a:p>
            <a:r>
              <a:rPr sz="1200">
                <a:latin typeface="Arial"/>
              </a:rPr>
              <a:t>docks on the AprilTag and releases the can above the bin.</a:t>
            </a:r>
          </a:p>
          <a:p/>
          <a:p>
            <a:r>
              <a:rPr sz="1200">
                <a:latin typeface="Arial"/>
              </a:rPr>
              <a:t>On the right is the hardware we had to do this with. One RGB camera, 320 by 240</a:t>
            </a:r>
          </a:p>
          <a:p>
            <a:r>
              <a:rPr sz="1200">
                <a:latin typeface="Arial"/>
              </a:rPr>
              <a:t>pixels, with a 60 degree field of view. No depth sensing, no stereo pair, no</a:t>
            </a:r>
          </a:p>
          <a:p>
            <a:r>
              <a:rPr sz="1200">
                <a:latin typeface="Arial"/>
              </a:rPr>
              <a:t>range finder. No wheel encoders, so the base returns no motion feedback at all.</a:t>
            </a:r>
          </a:p>
          <a:p>
            <a:r>
              <a:rPr sz="1200">
                <a:latin typeface="Arial"/>
              </a:rPr>
              <a:t>And no force sensing, so the gripper cannot detect contact.</a:t>
            </a:r>
          </a:p>
          <a:p/>
          <a:p>
            <a:r>
              <a:rPr sz="1200">
                <a:latin typeface="Arial"/>
              </a:rPr>
              <a:t>The consequence is at the bottom right, and it is the sentence that shapes the</a:t>
            </a:r>
          </a:p>
          <a:p>
            <a:r>
              <a:rPr sz="1200">
                <a:latin typeface="Arial"/>
              </a:rPr>
              <a:t>whole system: the base is an open loop actuator. We command it to move, and the</a:t>
            </a:r>
          </a:p>
          <a:p>
            <a:r>
              <a:rPr sz="1200">
                <a:latin typeface="Arial"/>
              </a:rPr>
              <a:t>only way to confirm that it moved is to look at the next camera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1:15]</a:t>
            </a:r>
          </a:p>
          <a:p/>
          <a:p>
            <a:r>
              <a:rPr sz="1200">
                <a:latin typeface="Arial"/>
              </a:rPr>
              <a:t>CUE: Trace the diagram outward from the Jetson in the middle, then drop to the software stack.</a:t>
            </a:r>
          </a:p>
          <a:p/>
          <a:p>
            <a:r>
              <a:rPr sz="1200">
                <a:latin typeface="Arial"/>
              </a:rPr>
              <a:t>This is the hardware architecture.</a:t>
            </a:r>
          </a:p>
          <a:p/>
          <a:p>
            <a:r>
              <a:rPr sz="1200">
                <a:latin typeface="Arial"/>
              </a:rPr>
              <a:t>In the middle is the Jetson Nano with four gigabytes of shared memory. It runs</a:t>
            </a:r>
          </a:p>
          <a:p>
            <a:r>
              <a:rPr sz="1200">
                <a:latin typeface="Arial"/>
              </a:rPr>
              <a:t>everything on board. There is no external computer and no remote control.</a:t>
            </a:r>
          </a:p>
          <a:p/>
          <a:p>
            <a:r>
              <a:rPr sz="1200">
                <a:latin typeface="Arial"/>
              </a:rPr>
              <a:t>Three subsystems are connected to it. On the left, the CSI camera delivers 320 by</a:t>
            </a:r>
          </a:p>
          <a:p>
            <a:r>
              <a:rPr sz="1200">
                <a:latin typeface="Arial"/>
              </a:rPr>
              <a:t>240 frames over CSI-2. On the right, two track motors are driven with PWM through</a:t>
            </a:r>
          </a:p>
          <a:p>
            <a:r>
              <a:rPr sz="1200">
                <a:latin typeface="Arial"/>
              </a:rPr>
              <a:t>a motor driver, and they report nothing back. Below them, five bus servos are</a:t>
            </a:r>
          </a:p>
          <a:p>
            <a:r>
              <a:rPr sz="1200">
                <a:latin typeface="Arial"/>
              </a:rPr>
              <a:t>connected in one TTL serial chain, and these are the only devices in the system</a:t>
            </a:r>
          </a:p>
          <a:p>
            <a:r>
              <a:rPr sz="1200">
                <a:latin typeface="Arial"/>
              </a:rPr>
              <a:t>whose position we can read. Servo four closes the gripper.</a:t>
            </a:r>
          </a:p>
          <a:p/>
          <a:p>
            <a:r>
              <a:rPr sz="1200">
                <a:latin typeface="Arial"/>
              </a:rPr>
              <a:t>The dashed lines are the power rail, from the battery to the drive and to the</a:t>
            </a:r>
          </a:p>
          <a:p>
            <a:r>
              <a:rPr sz="1200">
                <a:latin typeface="Arial"/>
              </a:rPr>
              <a:t>computer.</a:t>
            </a:r>
          </a:p>
          <a:p/>
          <a:p>
            <a:r>
              <a:rPr sz="1200">
                <a:latin typeface="Arial"/>
              </a:rPr>
              <a:t>At the bottom is the software stack, in four layers. The mission layer is our</a:t>
            </a:r>
          </a:p>
          <a:p>
            <a:r>
              <a:rPr sz="1200">
                <a:latin typeface="Arial"/>
              </a:rPr>
              <a:t>demo_core state machine with sixteen states. The perception layer uses detectNet,</a:t>
            </a:r>
          </a:p>
          <a:p>
            <a:r>
              <a:rPr sz="1200">
                <a:latin typeface="Arial"/>
              </a:rPr>
              <a:t>the pupil_apriltags library and OpenCV. The hardware layer wraps the jetbot Robot</a:t>
            </a:r>
          </a:p>
          <a:p>
            <a:r>
              <a:rPr sz="1200">
                <a:latin typeface="Arial"/>
              </a:rPr>
              <a:t>and Camera classes and the TTLServo driver. And all tuning constants live in two</a:t>
            </a:r>
          </a:p>
          <a:p>
            <a:r>
              <a:rPr sz="1200">
                <a:latin typeface="Arial"/>
              </a:rPr>
              <a:t>JSON configuration files, so no threshold is hard coded in the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1:45]</a:t>
            </a:r>
          </a:p>
          <a:p/>
          <a:p>
            <a:r>
              <a:rPr sz="1200">
                <a:latin typeface="Arial"/>
              </a:rPr>
              <a:t>CUE: Give the graph two seconds of silence before speaking. Read the formula aloud slowly.</a:t>
            </a:r>
          </a:p>
          <a:p/>
          <a:p>
            <a:r>
              <a:rPr sz="1200">
                <a:latin typeface="Arial"/>
              </a:rPr>
              <a:t>The mission logic is an explicit finite state machine, sixteen states in total.</a:t>
            </a:r>
          </a:p>
          <a:p>
            <a:r>
              <a:rPr sz="1200">
                <a:latin typeface="Arial"/>
              </a:rPr>
              <a:t>The graph on the left is the design level view. The guards on the transitions are</a:t>
            </a:r>
          </a:p>
          <a:p>
            <a:r>
              <a:rPr sz="1200">
                <a:latin typeface="Arial"/>
              </a:rPr>
              <a:t>fields of a single shared context object, so every state reads the same picture</a:t>
            </a:r>
          </a:p>
          <a:p>
            <a:r>
              <a:rPr sz="1200">
                <a:latin typeface="Arial"/>
              </a:rPr>
              <a:t>of the world.</a:t>
            </a:r>
          </a:p>
          <a:p/>
          <a:p>
            <a:r>
              <a:rPr sz="1200">
                <a:latin typeface="Arial"/>
              </a:rPr>
              <a:t>On the right are the four states that are driven by vision.</a:t>
            </a:r>
          </a:p>
          <a:p/>
          <a:p>
            <a:r>
              <a:rPr sz="1200">
                <a:latin typeface="Arial"/>
              </a:rPr>
              <a:t>In searching, the robot rotates until a target is accepted or the timeout</a:t>
            </a:r>
          </a:p>
          <a:p>
            <a:r>
              <a:rPr sz="1200">
                <a:latin typeface="Arial"/>
              </a:rPr>
              <a:t>expires. In aligning, it turns until the target is within tolerance, and it</a:t>
            </a:r>
          </a:p>
          <a:p>
            <a:r>
              <a:rPr sz="1200">
                <a:latin typeface="Arial"/>
              </a:rPr>
              <a:t>aborts if the target is lost. In approaching, it steers or drives forward and</a:t>
            </a:r>
          </a:p>
          <a:p>
            <a:r>
              <a:rPr sz="1200">
                <a:latin typeface="Arial"/>
              </a:rPr>
              <a:t>stops on apparent size. Final verification repeats the check with a tighter</a:t>
            </a:r>
          </a:p>
          <a:p>
            <a:r>
              <a:rPr sz="1200">
                <a:latin typeface="Arial"/>
              </a:rPr>
              <a:t>tolerance over several consecutive frames, so a single lucky frame cannot trigger</a:t>
            </a:r>
          </a:p>
          <a:p>
            <a:r>
              <a:rPr sz="1200">
                <a:latin typeface="Arial"/>
              </a:rPr>
              <a:t>a grasp.</a:t>
            </a:r>
          </a:p>
          <a:p/>
          <a:p>
            <a:r>
              <a:rPr sz="1200">
                <a:latin typeface="Arial"/>
              </a:rPr>
              <a:t>The formula below is the whole control input. e_x is the horizontal position of</a:t>
            </a:r>
          </a:p>
          <a:p>
            <a:r>
              <a:rPr sz="1200">
                <a:latin typeface="Arial"/>
              </a:rPr>
              <a:t>the target centre, minus half the image width, divided by the image width. It</a:t>
            </a:r>
          </a:p>
          <a:p>
            <a:r>
              <a:rPr sz="1200">
                <a:latin typeface="Arial"/>
              </a:rPr>
              <a:t>ranges from minus zero point five to plus zero point five, negative to the left of</a:t>
            </a:r>
          </a:p>
          <a:p>
            <a:r>
              <a:rPr sz="1200">
                <a:latin typeface="Arial"/>
              </a:rPr>
              <a:t>centre. We steer to drive that error to zero.</a:t>
            </a:r>
          </a:p>
          <a:p/>
          <a:p>
            <a:r>
              <a:rPr sz="1200">
                <a:latin typeface="Arial"/>
              </a:rPr>
              <a:t>Distance is handled the same way. We do not estimate range. We stop when the</a:t>
            </a:r>
          </a:p>
          <a:p>
            <a:r>
              <a:rPr sz="1200">
                <a:latin typeface="Arial"/>
              </a:rPr>
              <a:t>detection box reaches 0.36 of the image height for a can, or 0.15 for the tag.</a:t>
            </a:r>
          </a:p>
          <a:p>
            <a:r>
              <a:rPr sz="1200">
                <a:latin typeface="Arial"/>
              </a:rPr>
              <a:t>Apparent size replaces a distance measurement.</a:t>
            </a:r>
          </a:p>
          <a:p/>
          <a:p>
            <a:r>
              <a:rPr sz="1200">
                <a:latin typeface="Arial"/>
              </a:rPr>
              <a:t>Two design decisions at the bottom. Transitions are held in an explicit table, so</a:t>
            </a:r>
          </a:p>
          <a:p>
            <a:r>
              <a:rPr sz="1200">
                <a:latin typeface="Arial"/>
              </a:rPr>
              <a:t>an undeclared state and event pair raises an error instead of failing silently.</a:t>
            </a:r>
          </a:p>
          <a:p>
            <a:r>
              <a:rPr sz="1200">
                <a:latin typeface="Arial"/>
              </a:rPr>
              <a:t>And finalising requires a stable target, which map based navigation never</a:t>
            </a:r>
          </a:p>
          <a:p>
            <a:r>
              <a:rPr sz="1200">
                <a:latin typeface="Arial"/>
              </a:rPr>
              <a:t>provides, so dead reckoning alone can never trigger a grasp.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1:35]</a:t>
            </a:r>
          </a:p>
          <a:p/>
          <a:p>
            <a:r>
              <a:rPr sz="1200">
                <a:latin typeface="Arial"/>
              </a:rPr>
              <a:t>CUE: Walk the six chips left to right, then the four photographs, then the two blocks on the right.</a:t>
            </a:r>
          </a:p>
          <a:p/>
          <a:p>
            <a:r>
              <a:rPr sz="1200">
                <a:latin typeface="Arial"/>
              </a:rPr>
              <a:t>Now the grasp itself.</a:t>
            </a:r>
          </a:p>
          <a:p/>
          <a:p>
            <a:r>
              <a:rPr sz="1200">
                <a:latin typeface="Arial"/>
              </a:rPr>
              <a:t>The line at the top is the whole idea: fixed poses, no inverse kinematics. The</a:t>
            </a:r>
          </a:p>
          <a:p>
            <a:r>
              <a:rPr sz="1200">
                <a:latin typeface="Arial"/>
              </a:rPr>
              <a:t>arm only ever moves between poses we defined in advance, and the base drives the</a:t>
            </a:r>
          </a:p>
          <a:p>
            <a:r>
              <a:rPr sz="1200">
                <a:latin typeface="Arial"/>
              </a:rPr>
              <a:t>can into the open gripper.</a:t>
            </a:r>
          </a:p>
          <a:p/>
          <a:p>
            <a:r>
              <a:rPr sz="1200">
                <a:latin typeface="Arial"/>
              </a:rPr>
              <a:t>The six chips are the sequence. Two seconds of settling. Lower the arm to the</a:t>
            </a:r>
          </a:p>
          <a:p>
            <a:r>
              <a:rPr sz="1200">
                <a:latin typeface="Arial"/>
              </a:rPr>
              <a:t>down pose, polling the servos as it goes. Push forward slowly, which is the step</a:t>
            </a:r>
          </a:p>
          <a:p>
            <a:r>
              <a:rPr sz="1200">
                <a:latin typeface="Arial"/>
              </a:rPr>
              <a:t>highlighted in blue. Hold the arm locked for five seconds. Close to the grab</a:t>
            </a:r>
          </a:p>
          <a:p>
            <a:r>
              <a:rPr sz="1200">
                <a:latin typeface="Arial"/>
              </a:rPr>
              <a:t>pose. Lift to the carry pose.</a:t>
            </a:r>
          </a:p>
          <a:p/>
          <a:p>
            <a:r>
              <a:rPr sz="1200">
                <a:latin typeface="Arial"/>
              </a:rPr>
              <a:t>The four frames below are recorded on board during a real pickup: verify, push,</a:t>
            </a:r>
          </a:p>
          <a:p>
            <a:r>
              <a:rPr sz="1200">
                <a:latin typeface="Arial"/>
              </a:rPr>
              <a:t>close, carry.</a:t>
            </a:r>
          </a:p>
          <a:p/>
          <a:p>
            <a:r>
              <a:rPr sz="1200">
                <a:latin typeface="Arial"/>
              </a:rPr>
              <a:t>Then the question on the right: why push, rather than reach out and grasp? The</a:t>
            </a:r>
          </a:p>
          <a:p>
            <a:r>
              <a:rPr sz="1200">
                <a:latin typeface="Arial"/>
              </a:rPr>
              <a:t>arm is short and the gripper closes imprecisely, but the base moves reliably over</a:t>
            </a:r>
          </a:p>
          <a:p>
            <a:r>
              <a:rPr sz="1200">
                <a:latin typeface="Arial"/>
              </a:rPr>
              <a:t>short distances. So we lower the open gripper to the floor and drive the can into</a:t>
            </a:r>
          </a:p>
          <a:p>
            <a:r>
              <a:rPr sz="1200">
                <a:latin typeface="Arial"/>
              </a:rPr>
              <a:t>it. We trade fine manipulation, which our hardware is bad at, for coarse base</a:t>
            </a:r>
          </a:p>
          <a:p>
            <a:r>
              <a:rPr sz="1200">
                <a:latin typeface="Arial"/>
              </a:rPr>
              <a:t>motion, which it does well.</a:t>
            </a:r>
          </a:p>
          <a:p/>
          <a:p>
            <a:r>
              <a:rPr sz="1200">
                <a:latin typeface="Arial"/>
              </a:rPr>
              <a:t>The block underneath is the one place in the whole system with real feedback.</a:t>
            </a:r>
          </a:p>
          <a:p>
            <a:r>
              <a:rPr sz="1200">
                <a:latin typeface="Arial"/>
              </a:rPr>
              <a:t>Servo positions are polled until the readings stop changing, instead of waiting</a:t>
            </a:r>
          </a:p>
          <a:p>
            <a:r>
              <a:rPr sz="1200">
                <a:latin typeface="Arial"/>
              </a:rPr>
              <a:t>out a fixed delay, and the push is blocked while the arm has not settled. In the</a:t>
            </a:r>
          </a:p>
          <a:p>
            <a:r>
              <a:rPr sz="1200">
                <a:latin typeface="Arial"/>
              </a:rPr>
              <a:t>archived run that came to 4.94 seconds of settling, 7 seconds of pushing and 5</a:t>
            </a:r>
          </a:p>
          <a:p>
            <a:r>
              <a:rPr sz="1200">
                <a:latin typeface="Arial"/>
              </a:rPr>
              <a:t>seconds of holding.</a:t>
            </a:r>
          </a:p>
          <a:p/>
          <a:p>
            <a:r>
              <a:rPr sz="1200">
                <a:latin typeface="Arial"/>
              </a:rPr>
              <a:t>The limitation is on the slide and we will not talk around it: this works for</a:t>
            </a:r>
          </a:p>
          <a:p>
            <a:r>
              <a:rPr sz="1200">
                <a:latin typeface="Arial"/>
              </a:rPr>
              <a:t>light objects on a low friction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1:05]</a:t>
            </a:r>
          </a:p>
          <a:p/>
          <a:p>
            <a:r>
              <a:rPr sz="1200">
                <a:latin typeface="Arial"/>
              </a:rPr>
              <a:t>CUE: Three photographs first, then the four numbers. This is the slide to slow down on.</a:t>
            </a:r>
          </a:p>
          <a:p/>
          <a:p>
            <a:r>
              <a:rPr sz="1200">
                <a:latin typeface="Arial"/>
              </a:rPr>
              <a:t>This is the experimental setup and one complete reference run.</a:t>
            </a:r>
          </a:p>
          <a:p/>
          <a:p>
            <a:r>
              <a:rPr sz="1200">
                <a:latin typeface="Arial"/>
              </a:rPr>
              <a:t>On the left, the platform holding a grasped can. In the middle, the arena: a 250</a:t>
            </a:r>
          </a:p>
          <a:p>
            <a:r>
              <a:rPr sz="1200">
                <a:latin typeface="Arial"/>
              </a:rPr>
              <a:t>millilitre can and the bin with the AprilTag. On the right, the end of the run,</a:t>
            </a:r>
          </a:p>
          <a:p>
            <a:r>
              <a:rPr sz="1200">
                <a:latin typeface="Arial"/>
              </a:rPr>
              <a:t>with the can held above the bin.</a:t>
            </a:r>
          </a:p>
          <a:p/>
          <a:p>
            <a:r>
              <a:rPr sz="1200">
                <a:latin typeface="Arial"/>
              </a:rPr>
              <a:t>The four numbers describe that run. 73.8 seconds from the start of the search to</a:t>
            </a:r>
          </a:p>
          <a:p>
            <a:r>
              <a:rPr sz="1200">
                <a:latin typeface="Arial"/>
              </a:rPr>
              <a:t>the release over the bin. One camera, and nothing else: no depth sensor, no range</a:t>
            </a:r>
          </a:p>
          <a:p>
            <a:r>
              <a:rPr sz="1200">
                <a:latin typeface="Arial"/>
              </a:rPr>
              <a:t>finder, no encoders. 98 can detections during the run. And 41 successful tag</a:t>
            </a:r>
          </a:p>
          <a:p>
            <a:r>
              <a:rPr sz="1200">
                <a:latin typeface="Arial"/>
              </a:rPr>
              <a:t>reads out of 59 attempts.</a:t>
            </a:r>
          </a:p>
          <a:p/>
          <a:p>
            <a:r>
              <a:rPr sz="1200">
                <a:latin typeface="Arial"/>
              </a:rPr>
              <a:t>So search, grasp, transport and release were all completed on real hardware using</a:t>
            </a:r>
          </a:p>
          <a:p>
            <a:r>
              <a:rPr sz="1200">
                <a:latin typeface="Arial"/>
              </a:rPr>
              <a:t>the camera alone. That is not a claim we are asking you to take on trust: the</a:t>
            </a:r>
          </a:p>
          <a:p>
            <a:r>
              <a:rPr sz="1200">
                <a:latin typeface="Arial"/>
              </a:rPr>
              <a:t>on-board overlay records DEPTH equals NO on every single frame of that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1:20]</a:t>
            </a:r>
          </a:p>
          <a:p/>
          <a:p>
            <a:r>
              <a:rPr sz="1200">
                <a:latin typeface="Arial"/>
              </a:rPr>
              <a:t>CUE: Point at the overlay values in the middle image; those are the two numbers the controller reads.</a:t>
            </a:r>
          </a:p>
          <a:p/>
          <a:p>
            <a:r>
              <a:rPr sz="1200">
                <a:latin typeface="Arial"/>
              </a:rPr>
              <a:t>Perception is two detectors, and between them they produce every measurement the</a:t>
            </a:r>
          </a:p>
          <a:p>
            <a:r>
              <a:rPr sz="1200">
                <a:latin typeface="Arial"/>
              </a:rPr>
              <a:t>controller uses.</a:t>
            </a:r>
          </a:p>
          <a:p/>
          <a:p>
            <a:r>
              <a:rPr sz="1200">
                <a:latin typeface="Arial"/>
              </a:rPr>
              <a:t>On the left is the object detector, SSD-MobileNet-V1, at 300 by 300 input</a:t>
            </a:r>
          </a:p>
          <a:p>
            <a:r>
              <a:rPr sz="1200">
                <a:latin typeface="Arial"/>
              </a:rPr>
              <a:t>resolution, with the confidence score.</a:t>
            </a:r>
          </a:p>
          <a:p/>
          <a:p>
            <a:r>
              <a:rPr sz="1200">
                <a:latin typeface="Arial"/>
              </a:rPr>
              <a:t>In the middle is the same detector running inside the mission, with our overlay</a:t>
            </a:r>
          </a:p>
          <a:p>
            <a:r>
              <a:rPr sz="1200">
                <a:latin typeface="Arial"/>
              </a:rPr>
              <a:t>on top. The two values under the image are exactly what the controller consumes:</a:t>
            </a:r>
          </a:p>
          <a:p>
            <a:r>
              <a:rPr sz="1200">
                <a:latin typeface="Arial"/>
              </a:rPr>
              <a:t>a horizontal error of minus 0.119, so the can is slightly left of centre, and a</a:t>
            </a:r>
          </a:p>
          <a:p>
            <a:r>
              <a:rPr sz="1200">
                <a:latin typeface="Arial"/>
              </a:rPr>
              <a:t>box height of 0.255, which is still below the 0.36 stopping threshold. So at this</a:t>
            </a:r>
          </a:p>
          <a:p>
            <a:r>
              <a:rPr sz="1200">
                <a:latin typeface="Arial"/>
              </a:rPr>
              <a:t>moment the robot keeps approaching.</a:t>
            </a:r>
          </a:p>
          <a:p/>
          <a:p>
            <a:r>
              <a:rPr sz="1200">
                <a:latin typeface="Arial"/>
              </a:rPr>
              <a:t>On the right is the AprilTag detector during docking at the bin. Family tag36h11,</a:t>
            </a:r>
          </a:p>
          <a:p>
            <a:r>
              <a:rPr sz="1200">
                <a:latin typeface="Arial"/>
              </a:rPr>
              <a:t>identifier zero, and a tag height of 0.186 against the 0.15 threshold.</a:t>
            </a:r>
          </a:p>
          <a:p/>
          <a:p>
            <a:r>
              <a:rPr sz="1200">
                <a:latin typeface="Arial"/>
              </a:rPr>
              <a:t>The heading at the bottom says no calibration needed, and that is worth one</a:t>
            </a:r>
          </a:p>
          <a:p>
            <a:r>
              <a:rPr sz="1200">
                <a:latin typeface="Arial"/>
              </a:rPr>
              <a:t>sentence. We never calibrated this camera. Tag height, edge ratio and corner</a:t>
            </a:r>
          </a:p>
          <a:p>
            <a:r>
              <a:rPr sz="1200">
                <a:latin typeface="Arial"/>
              </a:rPr>
              <a:t>angle are all ratios measured inside the image, so the focal length cancels out</a:t>
            </a:r>
          </a:p>
          <a:p>
            <a:r>
              <a:rPr sz="1200">
                <a:latin typeface="Arial"/>
              </a:rPr>
              <a:t>of every one of them. The AprilTag library will also hand us a metric pose</a:t>
            </a:r>
          </a:p>
          <a:p>
            <a:r>
              <a:rPr sz="1200">
                <a:latin typeface="Arial"/>
              </a:rPr>
              <a:t>through perspective-n-point, and we deliberately do not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1:35]</a:t>
            </a:r>
          </a:p>
          <a:p/>
          <a:p>
            <a:r>
              <a:rPr sz="1200">
                <a:latin typeface="Arial"/>
              </a:rPr>
              <a:t>CUE: Left chart, then the four numbers, then the caveat box on the right. Do not skip the caveat.</a:t>
            </a:r>
          </a:p>
          <a:p/>
          <a:p>
            <a:r>
              <a:rPr sz="1200">
                <a:latin typeface="Arial"/>
              </a:rPr>
              <a:t>Now the measurements.</a:t>
            </a:r>
          </a:p>
          <a:p/>
          <a:p>
            <a:r>
              <a:rPr sz="1200">
                <a:latin typeface="Arial"/>
              </a:rPr>
              <a:t>The left chart is detector accuracy as F1 score. The two bars in each group</a:t>
            </a:r>
          </a:p>
          <a:p>
            <a:r>
              <a:rPr sz="1200">
                <a:latin typeface="Arial"/>
              </a:rPr>
              <a:t>compare the model we actually deployed against the stronger custom model. On</a:t>
            </a:r>
          </a:p>
          <a:p>
            <a:r>
              <a:rPr sz="1200">
                <a:latin typeface="Arial"/>
              </a:rPr>
              <a:t>photographs we give up about six F1 points, and on video about two.</a:t>
            </a:r>
          </a:p>
          <a:p/>
          <a:p>
            <a:r>
              <a:rPr sz="1200">
                <a:latin typeface="Arial"/>
              </a:rPr>
              <a:t>We accepted that, and the three bullets underneath are the reason. The deployed</a:t>
            </a:r>
          </a:p>
          <a:p>
            <a:r>
              <a:rPr sz="1200">
                <a:latin typeface="Arial"/>
              </a:rPr>
              <a:t>model drops a custom post-processing layer and a custom inference backend, and it</a:t>
            </a:r>
          </a:p>
          <a:p>
            <a:r>
              <a:rPr sz="1200">
                <a:latin typeface="Arial"/>
              </a:rPr>
              <a:t>runs on the inference path NVIDIA supports natively on the Nano. We traded a</a:t>
            </a:r>
          </a:p>
          <a:p>
            <a:r>
              <a:rPr sz="1200">
                <a:latin typeface="Arial"/>
              </a:rPr>
              <a:t>small amount of accuracy for a deployment that works reliably on the device we</a:t>
            </a:r>
          </a:p>
          <a:p>
            <a:r>
              <a:rPr sz="1200">
                <a:latin typeface="Arial"/>
              </a:rPr>
              <a:t>have. The conversion itself is lossless in practice: the deviation between the</a:t>
            </a:r>
          </a:p>
          <a:p>
            <a:r>
              <a:rPr sz="1200">
                <a:latin typeface="Arial"/>
              </a:rPr>
              <a:t>PyTorch model and the exported ONNX model is 4.4 times ten to the minus seven.</a:t>
            </a:r>
          </a:p>
          <a:p/>
          <a:p>
            <a:r>
              <a:rPr sz="1200">
                <a:latin typeface="Arial"/>
              </a:rPr>
              <a:t>The right chart is where the time goes in the 73.8 second run. Only 31.2 seconds,</a:t>
            </a:r>
          </a:p>
          <a:p>
            <a:r>
              <a:rPr sz="1200">
                <a:latin typeface="Arial"/>
              </a:rPr>
              <a:t>about 42 percent, is commanded base motion. Another 11.9 seconds are deliberate</a:t>
            </a:r>
          </a:p>
          <a:p>
            <a:r>
              <a:rPr sz="1200">
                <a:latin typeface="Arial"/>
              </a:rPr>
              <a:t>holds, the settling and locking we saw in the grasp sequence. The remainder is</a:t>
            </a:r>
          </a:p>
          <a:p>
            <a:r>
              <a:rPr sz="1200">
                <a:latin typeface="Arial"/>
              </a:rPr>
              <a:t>perception and decision time.</a:t>
            </a:r>
          </a:p>
          <a:p/>
          <a:p>
            <a:r>
              <a:rPr sz="1200">
                <a:latin typeface="Arial"/>
              </a:rPr>
              <a:t>One caveat, and it is on the slide rather than hidden in a footnote. That run was</a:t>
            </a:r>
          </a:p>
          <a:p>
            <a:r>
              <a:rPr sz="1200">
                <a:latin typeface="Arial"/>
              </a:rPr>
              <a:t>recorded by the earlier prototype, with the legacy parameter set and the custom</a:t>
            </a:r>
          </a:p>
          <a:p>
            <a:r>
              <a:rPr sz="1200">
                <a:latin typeface="Arial"/>
              </a:rPr>
              <a:t>TensorRT detector. Its stop thresholds were 0.400 and 0.500, not the 0.36 and</a:t>
            </a:r>
          </a:p>
          <a:p>
            <a:r>
              <a:rPr sz="1200">
                <a:latin typeface="Arial"/>
              </a:rPr>
              <a:t>0.15 we use today. The counts and the timings are exact; the thresholds behind</a:t>
            </a:r>
          </a:p>
          <a:p>
            <a:r>
              <a:rPr sz="1200">
                <a:latin typeface="Arial"/>
              </a:rPr>
              <a:t>them are not the current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1:35]</a:t>
            </a:r>
          </a:p>
          <a:p/>
          <a:p>
            <a:r>
              <a:rPr sz="1200">
                <a:latin typeface="Arial"/>
              </a:rPr>
              <a:t>CUE: Three orange cards left to right. Pause on the third one, it is the honest one.</a:t>
            </a:r>
          </a:p>
          <a:p/>
          <a:p>
            <a:r>
              <a:rPr sz="1200">
                <a:latin typeface="Arial"/>
              </a:rPr>
              <a:t>We want to be clear about what does not work.</a:t>
            </a:r>
          </a:p>
          <a:p/>
          <a:p>
            <a:r>
              <a:rPr sz="1200">
                <a:latin typeface="Arial"/>
              </a:rPr>
              <a:t>First card, depth excluded. We tested a depth network. It was reliable to about</a:t>
            </a:r>
          </a:p>
          <a:p>
            <a:r>
              <a:rPr sz="1200">
                <a:latin typeface="Arial"/>
              </a:rPr>
              <a:t>0.3 metres in a general scene, and to about one metre only on clean white</a:t>
            </a:r>
          </a:p>
          <a:p>
            <a:r>
              <a:rPr sz="1200">
                <a:latin typeface="Arial"/>
              </a:rPr>
              <a:t>surfaces. Our can detector already works out to three metres, so the depth</a:t>
            </a:r>
          </a:p>
          <a:p>
            <a:r>
              <a:rPr sz="1200">
                <a:latin typeface="Arial"/>
              </a:rPr>
              <a:t>estimate was worse than the detector it was meant to help. We took it out of the</a:t>
            </a:r>
          </a:p>
          <a:p>
            <a:r>
              <a:rPr sz="1200">
                <a:latin typeface="Arial"/>
              </a:rPr>
              <a:t>control path completely.</a:t>
            </a:r>
          </a:p>
          <a:p/>
          <a:p>
            <a:r>
              <a:rPr sz="1200">
                <a:latin typeface="Arial"/>
              </a:rPr>
              <a:t>Second card, the pose estimate drifts. The two tracks turn at different rates,</a:t>
            </a:r>
          </a:p>
          <a:p>
            <a:r>
              <a:rPr sz="1200">
                <a:latin typeface="Arial"/>
              </a:rPr>
              <a:t>somewhere between one and three radians per second, while our model assumes fixed</a:t>
            </a:r>
          </a:p>
          <a:p>
            <a:r>
              <a:rPr sz="1200">
                <a:latin typeface="Arial"/>
              </a:rPr>
              <a:t>values of 0.471 and 0.942. The error is larger than the quantity being modelled,</a:t>
            </a:r>
          </a:p>
          <a:p>
            <a:r>
              <a:rPr sz="1200">
                <a:latin typeface="Arial"/>
              </a:rPr>
              <a:t>so dead reckoning is not trustworthy, and the AprilTag on the bin is the only</a:t>
            </a:r>
          </a:p>
          <a:p>
            <a:r>
              <a:rPr sz="1200">
                <a:latin typeface="Arial"/>
              </a:rPr>
              <a:t>absolute anchor the robot has.</a:t>
            </a:r>
          </a:p>
          <a:p/>
          <a:p>
            <a:r>
              <a:rPr sz="1200">
                <a:latin typeface="Arial"/>
              </a:rPr>
              <a:t>Third card, and this is the one that worries us, a silent failure. Grasp</a:t>
            </a:r>
          </a:p>
          <a:p>
            <a:r>
              <a:rPr sz="1200">
                <a:latin typeface="Arial"/>
              </a:rPr>
              <a:t>verification is currently disabled, so a pickup is recorded whether or not the</a:t>
            </a:r>
          </a:p>
          <a:p>
            <a:r>
              <a:rPr sz="1200">
                <a:latin typeface="Arial"/>
              </a:rPr>
              <a:t>can is in the gripper. The robot can report success holding nothing. Enabling</a:t>
            </a:r>
          </a:p>
          <a:p>
            <a:r>
              <a:rPr sz="1200">
                <a:latin typeface="Arial"/>
              </a:rPr>
              <a:t>that verification flag is the first item on our list.</a:t>
            </a:r>
          </a:p>
          <a:p/>
          <a:p>
            <a:r>
              <a:rPr sz="1200">
                <a:latin typeface="Arial"/>
              </a:rPr>
              <a:t>Taken together, the missing capability is relocalisation. The map can direct the</a:t>
            </a:r>
          </a:p>
          <a:p>
            <a:r>
              <a:rPr sz="1200">
                <a:latin typeface="Arial"/>
              </a:rPr>
              <a:t>robot's attention, but it can never trigger an action on its own.</a:t>
            </a:r>
          </a:p>
          <a:p/>
          <a:p>
            <a:r>
              <a:rPr sz="1200">
                <a:latin typeface="Arial"/>
              </a:rPr>
              <a:t>The row at the bottom is the practical side. Open loop turning was unreliable, so</a:t>
            </a:r>
          </a:p>
          <a:p>
            <a:r>
              <a:rPr sz="1200">
                <a:latin typeface="Arial"/>
              </a:rPr>
              <a:t>we replaced it with short pulses and visual correction. The gripper gives no</a:t>
            </a:r>
          </a:p>
          <a:p>
            <a:r>
              <a:rPr sz="1200">
                <a:latin typeface="Arial"/>
              </a:rPr>
              <a:t>feedback, so full and empty are indistinguishable. We get 10 to 15 frames per</a:t>
            </a:r>
          </a:p>
          <a:p>
            <a:r>
              <a:rPr sz="1200">
                <a:latin typeface="Arial"/>
              </a:rPr>
              <a:t>second, so motion is pulsed and speeds stay low. Deployment cost accuracy and</a:t>
            </a:r>
          </a:p>
          <a:p>
            <a:r>
              <a:rPr sz="1200">
                <a:latin typeface="Arial"/>
              </a:rPr>
              <a:t>bought reliability. Depth underperformed. And grasp timing needed real feedback,</a:t>
            </a:r>
          </a:p>
          <a:p>
            <a:r>
              <a:rPr sz="1200">
                <a:latin typeface="Arial"/>
              </a:rPr>
              <a:t>because a fixed delay simply did not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[about 1:10]</a:t>
            </a:r>
          </a:p>
          <a:p/>
          <a:p>
            <a:r>
              <a:rPr sz="1200">
                <a:latin typeface="Arial"/>
              </a:rPr>
              <a:t>CUE: Summary on the left, sensors on the right. Stop talking on the thank you line.</a:t>
            </a:r>
          </a:p>
          <a:p/>
          <a:p>
            <a:r>
              <a:rPr sz="1200">
                <a:latin typeface="Arial"/>
              </a:rPr>
              <a:t>To summarise.</a:t>
            </a:r>
          </a:p>
          <a:p/>
          <a:p>
            <a:r>
              <a:rPr sz="1200">
                <a:latin typeface="Arial"/>
              </a:rPr>
              <a:t>We built an indoor mobile manipulator that runs on a single camera. Its control</a:t>
            </a:r>
          </a:p>
          <a:p>
            <a:r>
              <a:rPr sz="1200">
                <a:latin typeface="Arial"/>
              </a:rPr>
              <a:t>loops close on how the target appears in the image, not on estimated geometry.</a:t>
            </a:r>
          </a:p>
          <a:p>
            <a:r>
              <a:rPr sz="1200">
                <a:latin typeface="Arial"/>
              </a:rPr>
              <a:t>The practical effect is the third line: errors degrade performance instead of</a:t>
            </a:r>
          </a:p>
          <a:p>
            <a:r>
              <a:rPr sz="1200">
                <a:latin typeface="Arial"/>
              </a:rPr>
              <a:t>breaking the mission. When the map drifts, the robot searches longer. When</a:t>
            </a:r>
          </a:p>
          <a:p>
            <a:r>
              <a:rPr sz="1200">
                <a:latin typeface="Arial"/>
              </a:rPr>
              <a:t>turning is asymmetric, it makes a few more corrections. It still finishes.</a:t>
            </a:r>
          </a:p>
          <a:p/>
          <a:p>
            <a:r>
              <a:rPr sz="1200">
                <a:latin typeface="Arial"/>
              </a:rPr>
              <a:t>The one exception is in the blue box, the undetected empty gripper, and we have</a:t>
            </a:r>
          </a:p>
          <a:p>
            <a:r>
              <a:rPr sz="1200">
                <a:latin typeface="Arial"/>
              </a:rPr>
              <a:t>said why. In general, on hardware with no proprioception, we would rather be</a:t>
            </a:r>
          </a:p>
          <a:p>
            <a:r>
              <a:rPr sz="1200">
                <a:latin typeface="Arial"/>
              </a:rPr>
              <a:t>conservative and slow than confidently wrong.</a:t>
            </a:r>
          </a:p>
          <a:p/>
          <a:p>
            <a:r>
              <a:rPr sz="1200">
                <a:latin typeface="Arial"/>
              </a:rPr>
              <a:t>The next steps are deliberately small. Enable grasp verification, which costs one</a:t>
            </a:r>
          </a:p>
          <a:p>
            <a:r>
              <a:rPr sz="1200">
                <a:latin typeface="Arial"/>
              </a:rPr>
              <a:t>extra observation per pickup. And calibrate the two turn constants, because the</a:t>
            </a:r>
          </a:p>
          <a:p>
            <a:r>
              <a:rPr sz="1200">
                <a:latin typeface="Arial"/>
              </a:rPr>
              <a:t>per direction scale factors already exist in the configuration and are simply</a:t>
            </a:r>
          </a:p>
          <a:p>
            <a:r>
              <a:rPr sz="1200">
                <a:latin typeface="Arial"/>
              </a:rPr>
              <a:t>left at one.</a:t>
            </a:r>
          </a:p>
          <a:p/>
          <a:p>
            <a:r>
              <a:rPr sz="1200">
                <a:latin typeface="Arial"/>
              </a:rPr>
              <a:t>If we had a budget for sensors, the order is on the right. A forward distance</a:t>
            </a:r>
          </a:p>
          <a:p>
            <a:r>
              <a:rPr sz="1200">
                <a:latin typeface="Arial"/>
              </a:rPr>
              <a:t>sensor, which would be the first true metric measurement in the system. Force or</a:t>
            </a:r>
          </a:p>
          <a:p>
            <a:r>
              <a:rPr sz="1200">
                <a:latin typeface="Arial"/>
              </a:rPr>
              <a:t>current sensing in the gripper, which addresses the empty gripper failure</a:t>
            </a:r>
          </a:p>
          <a:p>
            <a:r>
              <a:rPr sz="1200">
                <a:latin typeface="Arial"/>
              </a:rPr>
              <a:t>directly. Wheel odometry, which turns the map from a hint into a measurement.</a:t>
            </a:r>
          </a:p>
          <a:p>
            <a:r>
              <a:rPr sz="1200">
                <a:latin typeface="Arial"/>
              </a:rPr>
              <a:t>And more tags around the room as cheap relocalisation anchors.</a:t>
            </a:r>
          </a:p>
          <a:p/>
          <a:p>
            <a:r>
              <a:rPr sz="1200">
                <a:latin typeface="Arial"/>
              </a:rPr>
              <a:t>Thank you for your attention. We are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r>
              <a:rPr lang="de-DE" noProof="0" dirty="0"/>
              <a:t/>
            </a: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r>
              <a:rPr lang="de-DE" noProof="0" dirty="0"/>
              <a:t/>
            </a: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w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jpeg"/><Relationship Id="rId4" Type="http://schemas.openxmlformats.org/officeDocument/2006/relationships/image" Target="../media/image3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theme" Target="../theme/theme3.xml"/><Relationship Id="rId10" Type="http://schemas.openxmlformats.org/officeDocument/2006/relationships/image" Target="../media/image1.w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theme" Target="../theme/theme4.xml"/><Relationship Id="rId10" Type="http://schemas.openxmlformats.org/officeDocument/2006/relationships/image" Target="../media/image1.w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5.xml"/><Relationship Id="rId3" Type="http://schemas.openxmlformats.org/officeDocument/2006/relationships/image" Target="../media/image3.emf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6.xml"/><Relationship Id="rId3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 smtClean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 smtClean="0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19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Self-Propelled Arm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Arial"/>
              </a:rPr>
              <a:t>Monocular vision based mobile manipulation for indoor can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83664"/>
            <a:ext cx="1005840" cy="32004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bot_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12848"/>
            <a:ext cx="3520440" cy="2388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2761488"/>
            <a:ext cx="4617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37222"/>
                </a:solidFill>
                <a:latin typeface="Arial"/>
              </a:rPr>
              <a:t>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072384"/>
            <a:ext cx="4617720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3255264"/>
            <a:ext cx="4617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Filip Chekalkin, Huaijing Hou, Spaska Janeva, Kamen Kanev,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Giorgi Khundadze, Xiaosheng Tan, Stoyan Vlaev, Weiye Yuan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4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Arial"/>
              </a:rPr>
              <a:t>Embedded Systems, Cyber-Physical Systems and Robotics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Arial"/>
              </a:rPr>
              <a:t>Technical University of Munich, Campus Heilbronn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Introduction and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System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8142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2231136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Autonomous can collection robot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450591"/>
            <a:ext cx="48737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Tracked indoor platform with a four link arm and a parallel gripper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1294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" y="2962656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A single RGB camera as the only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182112"/>
            <a:ext cx="48737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No depth sensor, no range finder, no wheel encoders, no force sensing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446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3694176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Vision in the loop at every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913632"/>
            <a:ext cx="48737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Search, approach, grasp and delivery are decided from the image</a:t>
            </a:r>
          </a:p>
        </p:txBody>
      </p:sp>
      <p:pic>
        <p:nvPicPr>
          <p:cNvPr id="17" name="Picture 16" descr="targets_and_b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498848"/>
            <a:ext cx="274320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18688" y="4590288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Operating environment: drink cans on the floor and an AprilTag marked collection bin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847088"/>
            <a:ext cx="7315" cy="43434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1847088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Outline</a:t>
            </a:r>
          </a:p>
        </p:txBody>
      </p:sp>
      <p:pic>
        <p:nvPicPr>
          <p:cNvPr id="21" name="Picture 20" descr="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286000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54496" y="2267712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Problem and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523744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Task definition and hardware constraints</a:t>
            </a:r>
          </a:p>
        </p:txBody>
      </p:sp>
      <p:pic>
        <p:nvPicPr>
          <p:cNvPr id="24" name="Picture 23" descr="ic_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090672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54496" y="3072384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Architecture and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328415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System components, state machine, grasping</a:t>
            </a:r>
          </a:p>
        </p:txBody>
      </p:sp>
      <p:pic>
        <p:nvPicPr>
          <p:cNvPr id="27" name="Picture 26" descr="ic_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3895344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54496" y="3877056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Perception and demonstration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4133088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Detection results and a complete run on hardware</a:t>
            </a:r>
          </a:p>
        </p:txBody>
      </p:sp>
      <p:pic>
        <p:nvPicPr>
          <p:cNvPr id="30" name="Picture 29" descr="ic_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4700016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54496" y="4681728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Experimental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937760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Detector accuracy and mission timing</a:t>
            </a:r>
          </a:p>
        </p:txBody>
      </p:sp>
      <p:pic>
        <p:nvPicPr>
          <p:cNvPr id="33" name="Picture 32" descr="ic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5504688"/>
            <a:ext cx="310896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54496" y="5486400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Limitations and 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5742432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Open issues, summary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Objective and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507492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25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250" b="0">
                <a:solidFill>
                  <a:srgbClr val="5A5A5A"/>
                </a:solidFill>
                <a:latin typeface="Arial"/>
              </a:rPr>
              <a:t>Drink cans accumulate in indoor public spaces</a:t>
            </a:r>
          </a:p>
          <a:p>
            <a:pPr marL="146304" indent="-146304">
              <a:lnSpc>
                <a:spcPct val="125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250" b="0">
                <a:solidFill>
                  <a:srgbClr val="5A5A5A"/>
                </a:solidFill>
                <a:latin typeface="Arial"/>
              </a:rPr>
              <a:t>Collection is repetitive, low risk manual work</a:t>
            </a:r>
          </a:p>
          <a:p>
            <a:pPr marL="146304" indent="-146304">
              <a:lnSpc>
                <a:spcPct val="125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250" b="0">
                <a:solidFill>
                  <a:srgbClr val="5A5A5A"/>
                </a:solidFill>
                <a:latin typeface="Arial"/>
              </a:rPr>
              <a:t>The task combines perception, navigation, decision making and manipulation</a:t>
            </a:r>
          </a:p>
        </p:txBody>
      </p:sp>
      <p:pic>
        <p:nvPicPr>
          <p:cNvPr id="8" name="Picture 7" descr="ic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35808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" y="3017520"/>
            <a:ext cx="4654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273552"/>
            <a:ext cx="4654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Rotate in place until the detector accepts a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" y="3383279"/>
            <a:ext cx="18288" cy="329184"/>
          </a:xfrm>
          <a:prstGeom prst="rect">
            <a:avLst/>
          </a:prstGeom>
          <a:solidFill>
            <a:srgbClr val="98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_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67327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" y="3749039"/>
            <a:ext cx="4654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005072"/>
            <a:ext cx="4654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Steer on the image error, stop on apparent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" y="4114800"/>
            <a:ext cx="18288" cy="329184"/>
          </a:xfrm>
          <a:prstGeom prst="rect">
            <a:avLst/>
          </a:prstGeom>
          <a:solidFill>
            <a:srgbClr val="98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498848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0664" y="4480560"/>
            <a:ext cx="4654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Grasp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736592"/>
            <a:ext cx="4654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Lower the arm, push, close, 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" y="4846320"/>
            <a:ext cx="18288" cy="329184"/>
          </a:xfrm>
          <a:prstGeom prst="rect">
            <a:avLst/>
          </a:prstGeom>
          <a:solidFill>
            <a:srgbClr val="98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t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5230368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0664" y="5212080"/>
            <a:ext cx="4654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5468112"/>
            <a:ext cx="4654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Dock on the AprilTag and release above the bin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05856" y="1847088"/>
            <a:ext cx="7315" cy="41605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8470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Sensor configuration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33629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2286000"/>
            <a:ext cx="2633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Single RGB camera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505456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320 x 240 pixels, 60 degree field of 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049524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2999232"/>
            <a:ext cx="2633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No depth sensing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3218688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No stereo pair and no range finder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762756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712464"/>
            <a:ext cx="2633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No wheel encoders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3931920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The base returns no motion feedback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47598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4425696"/>
            <a:ext cx="2633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No force sensing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4645152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The gripper cannot detect contact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525780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54132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50" b="1">
                <a:solidFill>
                  <a:srgbClr val="005293"/>
                </a:solidFill>
                <a:latin typeface="Arial"/>
              </a:rPr>
              <a:t>The base is an open loop actuator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50" b="0">
                <a:solidFill>
                  <a:srgbClr val="005293"/>
                </a:solidFill>
                <a:latin typeface="Arial"/>
              </a:rPr>
              <a:t>Motion is confirmed only in the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Components and software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8513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5A5A"/>
                </a:solidFill>
                <a:latin typeface="Arial"/>
              </a:rPr>
              <a:t>Three subsystems are connected to the Jetson Nano. Only the servo chain reports its state 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063239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3337559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42232" y="3246120"/>
            <a:ext cx="12344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Jetson Nano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rial"/>
              </a:rPr>
              <a:t>4 GB shared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27248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9272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3236976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CSI camera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320 x 240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3493007"/>
            <a:ext cx="1005840" cy="0"/>
          </a:xfrm>
          <a:prstGeom prst="line">
            <a:avLst/>
          </a:prstGeom>
          <a:ln w="19050">
            <a:solidFill>
              <a:srgbClr val="006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70048" y="32369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05293"/>
                </a:solidFill>
                <a:latin typeface="Arial"/>
              </a:rPr>
              <a:t>CSI-2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354787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frames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1975103"/>
            <a:ext cx="2240280" cy="896112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_t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194560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600" y="2103120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Two track motors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PWM via motor driver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no position feedback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486400" y="2423160"/>
            <a:ext cx="1051560" cy="914400"/>
          </a:xfrm>
          <a:prstGeom prst="line">
            <a:avLst/>
          </a:prstGeom>
          <a:ln w="19050">
            <a:solidFill>
              <a:srgbClr val="006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37960" y="3785615"/>
            <a:ext cx="2240280" cy="896112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_wr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4005072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86600" y="3913632"/>
            <a:ext cx="1600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Five bus servos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one TTL serial chain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50" b="1">
                <a:solidFill>
                  <a:srgbClr val="005293"/>
                </a:solidFill>
                <a:latin typeface="Arial"/>
              </a:rPr>
              <a:t>position readable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0" y="3657600"/>
            <a:ext cx="1051560" cy="576072"/>
          </a:xfrm>
          <a:prstGeom prst="line">
            <a:avLst/>
          </a:prstGeom>
          <a:ln w="19050">
            <a:solidFill>
              <a:srgbClr val="006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0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8920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22592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48920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31152" y="4983480"/>
            <a:ext cx="91440" cy="0"/>
          </a:xfrm>
          <a:prstGeom prst="line">
            <a:avLst/>
          </a:prstGeom>
          <a:ln w="12700">
            <a:solidFill>
              <a:srgbClr val="64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61504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1504" y="48920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70064" y="4983480"/>
            <a:ext cx="91440" cy="0"/>
          </a:xfrm>
          <a:prstGeom prst="line">
            <a:avLst/>
          </a:prstGeom>
          <a:ln w="12700">
            <a:solidFill>
              <a:srgbClr val="64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900416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0416" y="48920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08976" y="4983480"/>
            <a:ext cx="91440" cy="0"/>
          </a:xfrm>
          <a:prstGeom prst="line">
            <a:avLst/>
          </a:prstGeom>
          <a:ln w="12700">
            <a:solidFill>
              <a:srgbClr val="64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339328" y="480974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8" y="48920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47888" y="4983480"/>
            <a:ext cx="91440" cy="0"/>
          </a:xfrm>
          <a:prstGeom prst="line">
            <a:avLst/>
          </a:prstGeom>
          <a:ln w="12700">
            <a:solidFill>
              <a:srgbClr val="64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37960" y="5230368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S4 closes the gripper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572000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Battery and power rail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1554480" y="3858768"/>
            <a:ext cx="0" cy="713232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606040" y="4892040"/>
            <a:ext cx="1938528" cy="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544568" y="3931920"/>
            <a:ext cx="0" cy="96012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880360" y="4937759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Arial"/>
              </a:rPr>
              <a:t>power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70585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Software stack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16752"/>
            <a:ext cx="68580" cy="146304"/>
          </a:xfrm>
          <a:prstGeom prst="rect">
            <a:avLst/>
          </a:prstGeom>
          <a:solidFill>
            <a:srgbClr val="005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" y="5971032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Mission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" y="61630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demo_core state machine, 16 states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87168" y="601675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33472" y="5971032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Perception layer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33472" y="61630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detectNet, pupil_apriltags, OpenCV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54296" y="6016752"/>
            <a:ext cx="68580" cy="146304"/>
          </a:xfrm>
          <a:prstGeom prst="rect">
            <a:avLst/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00600" y="5971032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Hardware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0600" y="61630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jetbot Robot and Camera, TTLServo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21424" y="6016752"/>
            <a:ext cx="68580" cy="146304"/>
          </a:xfrm>
          <a:prstGeom prst="rect">
            <a:avLst/>
          </a:prstGeom>
          <a:solidFill>
            <a:srgbClr val="98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67728" y="5971032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Configuration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7728" y="61630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config.json, empirical_parameters.json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State Machine and Control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fsm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66543"/>
            <a:ext cx="4846320" cy="3009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17550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Design level state graph. Transition guards are fields of a single shared context object.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1808" y="2011680"/>
            <a:ext cx="7315" cy="361188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201168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Vision driven states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42773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3288" y="237744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Searching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2596896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Rotate until a target is accepted or the timeout expires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297637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292608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Aligning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3145536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Turn to tolerance, abort if the target is lost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352501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347472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Approaching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3694176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Steer or drive forward, stop on apparent size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407365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33288" y="402336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Final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4242816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Tighter tolerance over consecutive frames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4626864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473659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e</a:t>
            </a:r>
            <a:r>
              <a:rPr sz="950" b="1">
                <a:solidFill>
                  <a:srgbClr val="1A1A1A"/>
                </a:solidFill>
                <a:latin typeface="Arial"/>
              </a:rPr>
              <a:t>x</a:t>
            </a:r>
            <a:r>
              <a:rPr sz="1400" b="1">
                <a:solidFill>
                  <a:srgbClr val="1A1A1A"/>
                </a:solidFill>
                <a:latin typeface="Arial"/>
              </a:rPr>
              <a:t> = ( x</a:t>
            </a:r>
            <a:r>
              <a:rPr sz="950" b="1">
                <a:solidFill>
                  <a:srgbClr val="1A1A1A"/>
                </a:solidFill>
                <a:latin typeface="Arial"/>
              </a:rPr>
              <a:t>c</a:t>
            </a:r>
            <a:r>
              <a:rPr sz="1400" b="1">
                <a:solidFill>
                  <a:srgbClr val="1A1A1A"/>
                </a:solidFill>
                <a:latin typeface="Arial"/>
              </a:rPr>
              <a:t> - W/2 ) / 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5102352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4000"/>
              </a:lnSpc>
              <a:spcAft>
                <a:spcPts val="0"/>
              </a:spcAft>
              <a:buClr>
                <a:srgbClr val="0065BD"/>
              </a:buClr>
              <a:buFont typeface="Arial"/>
              <a:buChar char="•"/>
            </a:pPr>
            <a:r>
              <a:rPr sz="900" b="0">
                <a:solidFill>
                  <a:srgbClr val="5A5A5A"/>
                </a:solidFill>
                <a:latin typeface="Arial"/>
              </a:rPr>
              <a:t>Range -0.5 to 0.5, negative to the left of centre</a:t>
            </a:r>
          </a:p>
          <a:p>
            <a:pPr marL="146304" indent="-146304">
              <a:lnSpc>
                <a:spcPct val="114000"/>
              </a:lnSpc>
              <a:spcAft>
                <a:spcPts val="0"/>
              </a:spcAft>
              <a:buClr>
                <a:srgbClr val="0065BD"/>
              </a:buClr>
              <a:buFont typeface="Arial"/>
              <a:buChar char="•"/>
            </a:pPr>
            <a:r>
              <a:rPr sz="900" b="0">
                <a:solidFill>
                  <a:srgbClr val="5A5A5A"/>
                </a:solidFill>
                <a:latin typeface="Arial"/>
              </a:rPr>
              <a:t>Stop thresholds: 0.36 box height, 0.15 tag height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742432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888736"/>
            <a:ext cx="85130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8000"/>
              </a:lnSpc>
              <a:spcAft>
                <a:spcPts val="100"/>
              </a:spcAft>
              <a:buClr>
                <a:srgbClr val="64A0C8"/>
              </a:buClr>
              <a:buFont typeface="Arial"/>
              <a:buChar char="•"/>
            </a:pPr>
            <a:r>
              <a:rPr sz="1050" b="0">
                <a:solidFill>
                  <a:srgbClr val="5A5A5A"/>
                </a:solidFill>
                <a:latin typeface="Arial"/>
              </a:rPr>
              <a:t>Transitions are held in an explicit table, so an undeclared state and event pair raises an error</a:t>
            </a:r>
          </a:p>
          <a:p>
            <a:pPr marL="146304" indent="-146304">
              <a:lnSpc>
                <a:spcPct val="118000"/>
              </a:lnSpc>
              <a:spcAft>
                <a:spcPts val="100"/>
              </a:spcAft>
              <a:buClr>
                <a:srgbClr val="64A0C8"/>
              </a:buClr>
              <a:buFont typeface="Arial"/>
              <a:buChar char="•"/>
            </a:pPr>
            <a:r>
              <a:rPr sz="1050" b="0">
                <a:solidFill>
                  <a:srgbClr val="5A5A5A"/>
                </a:solidFill>
                <a:latin typeface="Arial"/>
              </a:rPr>
              <a:t>Finalising requires a stable target, a condition map based navigation never reaches, so dead reckoning triggers no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Grasping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Manipulation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8513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5A5A"/>
                </a:solidFill>
                <a:latin typeface="Arial"/>
              </a:rPr>
              <a:t>Fixed poses — no inverse kinematics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2267712"/>
            <a:ext cx="1042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46888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706624"/>
            <a:ext cx="104241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2.0 s settle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9656" y="2267712"/>
            <a:ext cx="1042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246888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Lower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6" y="2706624"/>
            <a:ext cx="104241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arm_down pose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256" y="2267712"/>
            <a:ext cx="1042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256" y="246888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2706624"/>
            <a:ext cx="104241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Slow forward drive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5" y="2267712"/>
            <a:ext cx="1042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5" y="246888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5" y="2706624"/>
            <a:ext cx="104241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5.0 s lock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34455" y="2267712"/>
            <a:ext cx="1042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455" y="246888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4455" y="2706624"/>
            <a:ext cx="104241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Grab pose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2157984"/>
            <a:ext cx="1298448" cy="104241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6055" y="2267712"/>
            <a:ext cx="1042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37222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5" y="246888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Lift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6055" y="2706624"/>
            <a:ext cx="104241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Carry pose</a:t>
            </a:r>
          </a:p>
        </p:txBody>
      </p:sp>
      <p:pic>
        <p:nvPicPr>
          <p:cNvPr id="32" name="Picture 31" descr="grasp_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346704"/>
            <a:ext cx="3657600" cy="274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20040" y="61447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Verify · push · close · carry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3346704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37222"/>
                </a:solidFill>
                <a:latin typeface="Arial"/>
              </a:rPr>
              <a:t>Why push, not reach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3657600"/>
            <a:ext cx="4599432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E37222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Short arm, imprecise gripper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E37222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Base drives reliably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E37222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Can driven into open gripper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E37222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Coarse motion beats fine manipulation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4809744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Servo 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5120640"/>
            <a:ext cx="459943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Polled until readings stabilise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Push blocked until settled</a:t>
            </a:r>
          </a:p>
          <a:p>
            <a:pPr marL="146304" indent="-146304">
              <a:lnSpc>
                <a:spcPct val="118000"/>
              </a:lnSpc>
              <a:spcAft>
                <a:spcPts val="5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4.94 s settle · 7.0 s push · 5.0 s hold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4528" y="5998464"/>
            <a:ext cx="4599432" cy="402336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6089904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5293"/>
                </a:solidFill>
                <a:latin typeface="Arial"/>
              </a:rPr>
              <a:t>Limitation: </a:t>
            </a:r>
            <a:r>
              <a:rPr sz="1050" b="0">
                <a:solidFill>
                  <a:srgbClr val="5A5A5A"/>
                </a:solidFill>
                <a:latin typeface="Arial"/>
              </a:rPr>
              <a:t>light objects, low-friction floor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Platform, arena and reference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robot_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0"/>
            <a:ext cx="2560320" cy="1737360"/>
          </a:xfrm>
          <a:prstGeom prst="rect">
            <a:avLst/>
          </a:prstGeom>
        </p:spPr>
      </p:pic>
      <p:pic>
        <p:nvPicPr>
          <p:cNvPr id="8" name="Picture 7" descr="targets_and_b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2011680"/>
            <a:ext cx="2606040" cy="1737360"/>
          </a:xfrm>
          <a:prstGeom prst="rect">
            <a:avLst/>
          </a:prstGeom>
        </p:spPr>
      </p:pic>
      <p:pic>
        <p:nvPicPr>
          <p:cNvPr id="9" name="Picture 8" descr="bin_relea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2011680"/>
            <a:ext cx="3082413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387705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Platform with grasped 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387705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Arena: can, AprilTag 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3877056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Arial"/>
              </a:rPr>
              <a:t>Release above bin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498848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6817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65BD"/>
                </a:solidFill>
                <a:latin typeface="Arial"/>
              </a:rPr>
              <a:t>73.8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1023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Full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6817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65BD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1023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Camera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6817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65BD"/>
                </a:solidFill>
                <a:latin typeface="Arial"/>
              </a:rPr>
              <a:t>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023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Can detections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6817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65BD"/>
                </a:solidFill>
                <a:latin typeface="Arial"/>
              </a:rPr>
              <a:t>41 / 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1023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Tag reads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669280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81558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Reference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5797296"/>
            <a:ext cx="613562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8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Search · grasp · transport · release</a:t>
            </a:r>
          </a:p>
          <a:p>
            <a:pPr marL="146304" indent="-146304">
              <a:lnSpc>
                <a:spcPct val="118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Camera only — DEPTH = 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Object and Marker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8513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5A5A"/>
                </a:solidFill>
                <a:latin typeface="Arial"/>
              </a:rPr>
              <a:t>Two detectors, every controller input</a:t>
            </a:r>
          </a:p>
        </p:txBody>
      </p:sp>
      <p:pic>
        <p:nvPicPr>
          <p:cNvPr id="8" name="Picture 7" descr="can_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49424"/>
            <a:ext cx="201168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37083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Detector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62686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SSD-MobileNet-V1 · 300 × 300</a:t>
            </a:r>
          </a:p>
        </p:txBody>
      </p:sp>
      <p:pic>
        <p:nvPicPr>
          <p:cNvPr id="11" name="Picture 10" descr="onboard_can_detec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249424"/>
            <a:ext cx="268224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51760" y="4370832"/>
            <a:ext cx="26791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Can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626864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error −0.119 · height 0.255</a:t>
            </a:r>
          </a:p>
        </p:txBody>
      </p:sp>
      <p:pic>
        <p:nvPicPr>
          <p:cNvPr id="14" name="Picture 13" descr="onboard_tag_detec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249424"/>
            <a:ext cx="268224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0" y="4370832"/>
            <a:ext cx="26791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Tag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626864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Arial"/>
              </a:rPr>
              <a:t>tag36h11 id 0 · height 0.186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760720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907024"/>
            <a:ext cx="2697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No calibration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888736"/>
            <a:ext cx="57241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8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Image ratios — focal length cancels</a:t>
            </a:r>
          </a:p>
          <a:p>
            <a:pPr marL="146304" indent="-146304">
              <a:lnSpc>
                <a:spcPct val="118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50" b="0">
                <a:solidFill>
                  <a:srgbClr val="5A5A5A"/>
                </a:solidFill>
                <a:latin typeface="Arial"/>
              </a:rPr>
              <a:t>PnP pose available, unused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Detector accuracy and mission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Detector accuracy, F1</a:t>
            </a:r>
          </a:p>
        </p:txBody>
      </p:sp>
      <p:pic>
        <p:nvPicPr>
          <p:cNvPr id="8" name="Picture 7" descr="chart_detector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21408"/>
            <a:ext cx="4114800" cy="1890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09160" y="184708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Base motion per phase</a:t>
            </a:r>
          </a:p>
        </p:txBody>
      </p:sp>
      <p:pic>
        <p:nvPicPr>
          <p:cNvPr id="10" name="Picture 9" descr="chart_phase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121408"/>
            <a:ext cx="4114800" cy="20017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4261104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42569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065BD"/>
                </a:solidFill>
                <a:latin typeface="Arial"/>
              </a:rPr>
              <a:t>73.8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846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Full 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42569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065BD"/>
                </a:solidFill>
                <a:latin typeface="Arial"/>
              </a:rPr>
              <a:t>31.2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846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Base motion, 42 %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2569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37222"/>
                </a:solidFill>
                <a:latin typeface="Arial"/>
              </a:rPr>
              <a:t>11.9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846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Deliberate 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42569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65BD"/>
                </a:solidFill>
                <a:latin typeface="Arial"/>
              </a:rPr>
              <a:t>4.4 × 10⁻⁷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846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PyTorch vs. ONNX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21808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468112"/>
            <a:ext cx="4041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Accuracy vs. deployability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742432"/>
            <a:ext cx="404164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−6 F1 photos, −2 video</a:t>
            </a:r>
          </a:p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No custom post-processing</a:t>
            </a:r>
          </a:p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64A0C8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Native NVIDIA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5431536"/>
            <a:ext cx="7315" cy="100584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546811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37222"/>
                </a:solidFill>
                <a:latin typeface="Arial"/>
              </a:rPr>
              <a:t>Caveat: archived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742432"/>
            <a:ext cx="41148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Earlier prototype, TensorRT detector</a:t>
            </a:r>
          </a:p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Legacy thresholds 0.400 / 0.500</a:t>
            </a:r>
          </a:p>
          <a:p>
            <a:pPr marL="146304" indent="-146304">
              <a:lnSpc>
                <a:spcPct val="116000"/>
              </a:lnSpc>
              <a:spcAft>
                <a:spcPts val="3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Counts and timings exact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Limitations and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47088"/>
            <a:ext cx="2743200" cy="2139696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eyes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93392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35915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37222"/>
                </a:solidFill>
                <a:latin typeface="Arial"/>
              </a:rPr>
              <a:t>Depth excluded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06624"/>
            <a:ext cx="23774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0.3 m general scenes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1 m white surfaces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Detector reaches 3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9417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Arial"/>
              </a:rPr>
              <a:t>Removed from control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1847088"/>
            <a:ext cx="2743200" cy="2139696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u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1993392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92424" y="235915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37222"/>
                </a:solidFill>
                <a:latin typeface="Arial"/>
              </a:rPr>
              <a:t>Pose drifts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2706624"/>
            <a:ext cx="23774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Left / right: 1–3 rad/s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Modelled 0.471 / 0.942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Error exceeds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69417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Arial"/>
              </a:rPr>
              <a:t>AprilTag: only anchor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47088"/>
            <a:ext cx="2743200" cy="2139696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_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993392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81928" y="235915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37222"/>
                </a:solidFill>
                <a:latin typeface="Arial"/>
              </a:rPr>
              <a:t>Silent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706624"/>
            <a:ext cx="23774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Verification disabled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Pickup always recorded</a:t>
            </a:r>
          </a:p>
          <a:p>
            <a:pPr marL="146304" indent="-146304">
              <a:lnSpc>
                <a:spcPct val="116000"/>
              </a:lnSpc>
              <a:spcAft>
                <a:spcPts val="600"/>
              </a:spcAft>
              <a:buClr>
                <a:srgbClr val="E37222"/>
              </a:buClr>
              <a:buFont typeface="Arial"/>
              <a:buChar char="•"/>
            </a:pPr>
            <a:r>
              <a:rPr sz="1100" b="0">
                <a:solidFill>
                  <a:srgbClr val="5A5A5A"/>
                </a:solidFill>
                <a:latin typeface="Arial"/>
              </a:rPr>
              <a:t>Empty gripper reports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69417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Arial"/>
              </a:rPr>
              <a:t>First fix: verification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187952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5293"/>
                </a:solidFill>
                <a:latin typeface="Arial"/>
              </a:rPr>
              <a:t>Missing capability: relocalisation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35424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681728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Principal challenges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7949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502920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Open-loop turning unreliable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248656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Pulses + visual correction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554979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7" y="550468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No gripper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72414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Full and empty identical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03046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" y="598017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10–15 fps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619963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Pulsed motion, low speeds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992624"/>
            <a:ext cx="7315" cy="146304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28032" y="5079492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5029200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Model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248656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Accuracy traded for reliability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28032" y="5554979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550468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Depth underperformed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724144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Unreliable at useful ranges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28032" y="603046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5980176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Grasp timing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6199632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Polling beat fixed delay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8513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37222"/>
                </a:solidFill>
                <a:latin typeface="Arial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S.P.A.S.  |  Embedded Systems, Cyber-Physical Systems and Robotics  |  TUM Campus Heilbronn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5704" y="6473952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4708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76272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Mobile manipulator, single camera</a:t>
            </a:r>
          </a:p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Closed on appearance, not geometry</a:t>
            </a:r>
          </a:p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Errors degrade, never break</a:t>
            </a:r>
          </a:p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Drifting map lengthens search</a:t>
            </a:r>
          </a:p>
          <a:p>
            <a:pPr marL="146304" indent="-146304">
              <a:lnSpc>
                <a:spcPct val="120000"/>
              </a:lnSpc>
              <a:spcAft>
                <a:spcPts val="600"/>
              </a:spcAft>
              <a:buClr>
                <a:srgbClr val="64A0C8"/>
              </a:buClr>
              <a:buFont typeface="Arial"/>
              <a:buChar char="•"/>
            </a:pPr>
            <a:r>
              <a:rPr sz="1200" b="0">
                <a:solidFill>
                  <a:srgbClr val="5A5A5A"/>
                </a:solidFill>
                <a:latin typeface="Arial"/>
              </a:rPr>
              <a:t>Asymmetric turning needs corrections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529584"/>
            <a:ext cx="5074920" cy="78638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3675887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50" b="1">
                <a:solidFill>
                  <a:srgbClr val="005293"/>
                </a:solidFill>
                <a:latin typeface="Arial"/>
              </a:rPr>
              <a:t>Exception: undetected empty gripper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50" b="0">
                <a:solidFill>
                  <a:srgbClr val="005293"/>
                </a:solidFill>
                <a:latin typeface="Arial"/>
              </a:rPr>
              <a:t>No proprioception — prefer caution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55371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Next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951476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490118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Enable grasp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5120640"/>
            <a:ext cx="48737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One observation per pickup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664708"/>
            <a:ext cx="68580" cy="14630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5614416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Calibrate turn constants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5833872"/>
            <a:ext cx="48737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Both factors still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847088"/>
            <a:ext cx="7315" cy="43434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1847088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Sensors worth adding</a:t>
            </a:r>
          </a:p>
        </p:txBody>
      </p:sp>
      <p:pic>
        <p:nvPicPr>
          <p:cNvPr id="20" name="Picture 19" descr="ic_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286000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54496" y="2267712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Forward distance 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523744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First metric measurement</a:t>
            </a:r>
          </a:p>
        </p:txBody>
      </p:sp>
      <p:pic>
        <p:nvPicPr>
          <p:cNvPr id="23" name="Picture 22" descr="ic_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255264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54496" y="3236976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Gripper force sensing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493008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Fixes empty gripper</a:t>
            </a:r>
          </a:p>
        </p:txBody>
      </p:sp>
      <p:pic>
        <p:nvPicPr>
          <p:cNvPr id="26" name="Picture 25" descr="ic_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224527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54496" y="4206240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Wheel odometry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462272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Map becomes measurement</a:t>
            </a:r>
          </a:p>
        </p:txBody>
      </p:sp>
      <p:pic>
        <p:nvPicPr>
          <p:cNvPr id="29" name="Picture 28" descr="ic_t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5193792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54496" y="5175504"/>
            <a:ext cx="2569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Arial"/>
              </a:rPr>
              <a:t>More room tags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5431536"/>
            <a:ext cx="2569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Cheap relocalisation anchors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053328"/>
            <a:ext cx="8513064" cy="731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199632"/>
            <a:ext cx="8513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5293"/>
                </a:solidFill>
                <a:latin typeface="Arial"/>
              </a:rPr>
              <a:t>Thank you.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1059</Words>
  <Application>Microsoft Office PowerPoint</Application>
  <PresentationFormat>Bildschirmpräsentation (4:3)</PresentationFormat>
  <Paragraphs>156</Paragraphs>
  <Slides>22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22</vt:i4>
      </vt:variant>
    </vt:vector>
  </HeadingPairs>
  <TitlesOfParts>
    <vt:vector size="33" baseType="lpstr"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PowerPoint-Präsentation</vt:lpstr>
      <vt:lpstr>PowerPoint-Präsentation</vt:lpstr>
      <vt:lpstr>PowerPoint-Präsentation</vt:lpstr>
      <vt:lpstr>Gültigkeit der Masterfolien</vt:lpstr>
      <vt:lpstr>Grundlage der Masterfolien</vt:lpstr>
      <vt:lpstr>Hier steht eine Überschrift max. 2-zeilig</vt:lpstr>
      <vt:lpstr>Schrift</vt:lpstr>
      <vt:lpstr>Farben</vt:lpstr>
      <vt:lpstr>Texte</vt:lpstr>
      <vt:lpstr>Aufzählung</vt:lpstr>
      <vt:lpstr>Bilder - Allgemein</vt:lpstr>
      <vt:lpstr>Bilder</vt:lpstr>
      <vt:lpstr>Bilder</vt:lpstr>
      <vt:lpstr>Bilder</vt:lpstr>
      <vt:lpstr>Bilder</vt:lpstr>
      <vt:lpstr>Nicht formatfüllende Bilder</vt:lpstr>
      <vt:lpstr>Bilder Format füllend - maximale Bildgröße</vt:lpstr>
      <vt:lpstr>Nicht Format füllende Bilder</vt:lpstr>
      <vt:lpstr>Tabelle – Beispiel 1</vt:lpstr>
      <vt:lpstr>Tabelle – Beispiel 2</vt:lpstr>
      <vt:lpstr>Diagramme – Beispiel 1</vt:lpstr>
      <vt:lpstr>Diagramme</vt:lpstr>
    </vt:vector>
  </TitlesOfParts>
  <Company>TUM ZIT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Bothe, Sonja</dc:creator>
  <cp:lastModifiedBy>Bothe, Sonja</cp:lastModifiedBy>
  <cp:revision>1</cp:revision>
  <cp:lastPrinted>2015-07-30T14:04:45Z</cp:lastPrinted>
  <dcterms:created xsi:type="dcterms:W3CDTF">2021-10-05T07:49:29Z</dcterms:created>
  <dcterms:modified xsi:type="dcterms:W3CDTF">2021-10-05T07:51:13Z</dcterms:modified>
</cp:coreProperties>
</file>